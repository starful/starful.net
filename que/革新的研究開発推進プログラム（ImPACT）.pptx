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19"/>
  </p:notesMasterIdLst>
  <p:sldIdLst>
    <p:sldId id="276" r:id="rId2"/>
    <p:sldId id="277" r:id="rId3"/>
    <p:sldId id="278" r:id="rId4"/>
    <p:sldId id="279" r:id="rId5"/>
    <p:sldId id="280" r:id="rId6"/>
    <p:sldId id="281" r:id="rId7"/>
    <p:sldId id="282" r:id="rId8"/>
    <p:sldId id="283" r:id="rId9"/>
    <p:sldId id="284" r:id="rId10"/>
    <p:sldId id="285" r:id="rId11"/>
    <p:sldId id="286" r:id="rId12"/>
    <p:sldId id="258" r:id="rId13"/>
    <p:sldId id="259" r:id="rId14"/>
    <p:sldId id="272" r:id="rId15"/>
    <p:sldId id="273" r:id="rId16"/>
    <p:sldId id="274" r:id="rId17"/>
    <p:sldId id="28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3" d="100"/>
          <a:sy n="73" d="100"/>
        </p:scale>
        <p:origin x="58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8EBBA5-053E-4B6D-884C-B58D8D998E43}" type="datetimeFigureOut">
              <a:rPr kumimoji="1" lang="ja-JP" altLang="en-US" smtClean="0"/>
              <a:t>2018/8/20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B36A36-D89F-4153-B9CC-6324EB0EFAD0}" type="slidenum">
              <a:rPr kumimoji="1" lang="ja-JP" altLang="en-US" smtClean="0"/>
              <a:t>‹#›</a:t>
            </a:fld>
            <a:endParaRPr kumimoji="1" lang="ja-JP" altLang="en-US"/>
          </a:p>
        </p:txBody>
      </p:sp>
    </p:spTree>
    <p:extLst>
      <p:ext uri="{BB962C8B-B14F-4D97-AF65-F5344CB8AC3E}">
        <p14:creationId xmlns:p14="http://schemas.microsoft.com/office/powerpoint/2010/main" val="28092052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1642330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4007057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1686085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1565288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3598331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3884051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2276166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2162855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352836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2442141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02713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1071141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77261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3342898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1492944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3787827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4287702-EEE6-4008-AF12-1364F366DBB5}" type="datetimeFigureOut">
              <a:rPr kumimoji="1" lang="ja-JP" altLang="en-US" smtClean="0"/>
              <a:t>2018/8/20</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A5927A2-EF92-4FB4-A74B-2B3598D7CF1D}" type="slidenum">
              <a:rPr kumimoji="1" lang="ja-JP" altLang="en-US" smtClean="0"/>
              <a:t>‹#›</a:t>
            </a:fld>
            <a:endParaRPr kumimoji="1" lang="ja-JP" altLang="en-US"/>
          </a:p>
        </p:txBody>
      </p:sp>
    </p:spTree>
    <p:extLst>
      <p:ext uri="{BB962C8B-B14F-4D97-AF65-F5344CB8AC3E}">
        <p14:creationId xmlns:p14="http://schemas.microsoft.com/office/powerpoint/2010/main" val="104686618"/>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Lst>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72440" y="338999"/>
            <a:ext cx="11349446" cy="1293857"/>
          </a:xfrm>
        </p:spPr>
        <p:txBody>
          <a:bodyPr>
            <a:noAutofit/>
          </a:bodyPr>
          <a:lstStyle/>
          <a:p>
            <a:r>
              <a:rPr lang="ja-JP" altLang="en-US" sz="3200" b="1" dirty="0"/>
              <a:t>革新的研究開発推進プログラム（</a:t>
            </a:r>
            <a:r>
              <a:rPr lang="en-US" altLang="ja-JP" sz="3200" b="1" dirty="0" err="1"/>
              <a:t>ImPACT</a:t>
            </a:r>
            <a:r>
              <a:rPr lang="ja-JP" altLang="en-US" sz="3200" b="1" dirty="0" smtClean="0"/>
              <a:t>）</a:t>
            </a:r>
            <a:endParaRPr kumimoji="1" lang="ja-JP" altLang="en-US" sz="3200" b="1" dirty="0"/>
          </a:p>
        </p:txBody>
      </p:sp>
      <p:sp>
        <p:nvSpPr>
          <p:cNvPr id="6" name="コンテンツ プレースホルダー 2"/>
          <p:cNvSpPr>
            <a:spLocks noGrp="1"/>
          </p:cNvSpPr>
          <p:nvPr/>
        </p:nvSpPr>
        <p:spPr>
          <a:xfrm>
            <a:off x="367937" y="1632856"/>
            <a:ext cx="8945880" cy="3221738"/>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r>
              <a:rPr lang="ja-JP" altLang="en-US" dirty="0"/>
              <a:t>先進長寿国では「重介護」が共通する深刻な社会問題になっている。本プログラムでは、人の脳神経系・身体とロボットなどを融合複合して機能させる「革新的サイバニックシステム」によって、人の残存する能力を飛躍的に改善・拡張・増幅・補助し、人と革新技術の相互支援による生活支援インフラとして社会実装することで、「人とロボットを繋ぐ革新的人支援技術」による新産業創出を推進し、</a:t>
            </a:r>
            <a:r>
              <a:rPr lang="en-US" altLang="ja-JP" dirty="0"/>
              <a:t>『</a:t>
            </a:r>
            <a:r>
              <a:rPr lang="ja-JP" altLang="en-US" dirty="0"/>
              <a:t>重介護ゼロ社会</a:t>
            </a:r>
            <a:r>
              <a:rPr lang="en-US" altLang="ja-JP" dirty="0"/>
              <a:t>』</a:t>
            </a:r>
            <a:r>
              <a:rPr lang="ja-JP" altLang="en-US" dirty="0"/>
              <a:t>の実現、従来の消費型経済から社会課題解決型経済へのパラダイムシフトの実現、社会変革・産業変革の実現を目指していく。</a:t>
            </a:r>
            <a:endParaRPr lang="ja-JP" altLang="en-US" dirty="0"/>
          </a:p>
        </p:txBody>
      </p:sp>
      <p:sp>
        <p:nvSpPr>
          <p:cNvPr id="7" name="コンテンツ プレースホルダー 2"/>
          <p:cNvSpPr>
            <a:spLocks noGrp="1"/>
          </p:cNvSpPr>
          <p:nvPr/>
        </p:nvSpPr>
        <p:spPr>
          <a:xfrm>
            <a:off x="472440" y="5251269"/>
            <a:ext cx="7430589" cy="979714"/>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r>
              <a:rPr lang="en-US" altLang="ja-JP" dirty="0"/>
              <a:t>https://www.jst.go.jp/impact/program/05.html</a:t>
            </a:r>
            <a:endParaRPr lang="ja-JP" altLang="en-US" dirty="0"/>
          </a:p>
        </p:txBody>
      </p:sp>
    </p:spTree>
    <p:extLst>
      <p:ext uri="{BB962C8B-B14F-4D97-AF65-F5344CB8AC3E}">
        <p14:creationId xmlns:p14="http://schemas.microsoft.com/office/powerpoint/2010/main" val="840801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36305" y="299552"/>
            <a:ext cx="7982071" cy="692966"/>
          </a:xfrm>
        </p:spPr>
        <p:txBody>
          <a:bodyPr>
            <a:normAutofit/>
          </a:bodyPr>
          <a:lstStyle/>
          <a:p>
            <a:r>
              <a:rPr lang="ja-JP" altLang="en-US" sz="3200" b="1" dirty="0" smtClean="0"/>
              <a:t>構成図</a:t>
            </a:r>
            <a:endParaRPr kumimoji="1" lang="ja-JP" altLang="en-US" sz="3200" b="1" dirty="0"/>
          </a:p>
        </p:txBody>
      </p:sp>
      <p:sp>
        <p:nvSpPr>
          <p:cNvPr id="5" name="正方形/長方形 4">
            <a:extLst>
              <a:ext uri="{FF2B5EF4-FFF2-40B4-BE49-F238E27FC236}">
                <a16:creationId xmlns:a16="http://schemas.microsoft.com/office/drawing/2014/main" id="{03A76AD0-538C-4414-9949-BF1F84247AD5}"/>
              </a:ext>
            </a:extLst>
          </p:cNvPr>
          <p:cNvSpPr/>
          <p:nvPr/>
        </p:nvSpPr>
        <p:spPr>
          <a:xfrm>
            <a:off x="3577490" y="2950416"/>
            <a:ext cx="1512169" cy="1895929"/>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endParaRPr lang="en-US" altLang="ja-JP" sz="1200" dirty="0">
              <a:solidFill>
                <a:schemeClr val="tx1"/>
              </a:solidFill>
            </a:endParaRPr>
          </a:p>
          <a:p>
            <a:pPr algn="ctr"/>
            <a:r>
              <a:rPr lang="ja-JP" altLang="en-US" sz="1200" dirty="0">
                <a:solidFill>
                  <a:schemeClr val="tx1"/>
                </a:solidFill>
              </a:rPr>
              <a:t>分析処理</a:t>
            </a:r>
          </a:p>
        </p:txBody>
      </p:sp>
      <p:sp>
        <p:nvSpPr>
          <p:cNvPr id="8" name="正方形/長方形 7">
            <a:extLst>
              <a:ext uri="{FF2B5EF4-FFF2-40B4-BE49-F238E27FC236}">
                <a16:creationId xmlns:a16="http://schemas.microsoft.com/office/drawing/2014/main" id="{D1124B3B-C0CC-4E94-9723-53EF01B19EDD}"/>
              </a:ext>
            </a:extLst>
          </p:cNvPr>
          <p:cNvSpPr/>
          <p:nvPr/>
        </p:nvSpPr>
        <p:spPr>
          <a:xfrm>
            <a:off x="3697425" y="3722441"/>
            <a:ext cx="1256938" cy="613237"/>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相関処理</a:t>
            </a:r>
          </a:p>
        </p:txBody>
      </p:sp>
      <p:sp>
        <p:nvSpPr>
          <p:cNvPr id="9" name="正方形/長方形 8">
            <a:extLst>
              <a:ext uri="{FF2B5EF4-FFF2-40B4-BE49-F238E27FC236}">
                <a16:creationId xmlns:a16="http://schemas.microsoft.com/office/drawing/2014/main" id="{A2E2DE21-669A-4672-B2D3-3D859ED90215}"/>
              </a:ext>
            </a:extLst>
          </p:cNvPr>
          <p:cNvSpPr/>
          <p:nvPr/>
        </p:nvSpPr>
        <p:spPr>
          <a:xfrm rot="5400000">
            <a:off x="5657436" y="3645922"/>
            <a:ext cx="1626530" cy="511214"/>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受付</a:t>
            </a:r>
            <a:endParaRPr lang="en-US" altLang="ja-JP" sz="1200" dirty="0">
              <a:solidFill>
                <a:schemeClr val="tx1"/>
              </a:solidFill>
            </a:endParaRPr>
          </a:p>
          <a:p>
            <a:pPr algn="ctr"/>
            <a:r>
              <a:rPr lang="en-US" altLang="ja-JP" sz="1200" dirty="0">
                <a:solidFill>
                  <a:schemeClr val="tx1"/>
                </a:solidFill>
              </a:rPr>
              <a:t>(WEBAPI)</a:t>
            </a:r>
            <a:endParaRPr lang="ja-JP" altLang="en-US" sz="1200" dirty="0">
              <a:solidFill>
                <a:schemeClr val="tx1"/>
              </a:solidFill>
            </a:endParaRPr>
          </a:p>
        </p:txBody>
      </p:sp>
      <p:sp>
        <p:nvSpPr>
          <p:cNvPr id="10" name="正方形/長方形 9">
            <a:extLst>
              <a:ext uri="{FF2B5EF4-FFF2-40B4-BE49-F238E27FC236}">
                <a16:creationId xmlns:a16="http://schemas.microsoft.com/office/drawing/2014/main" id="{7620416C-1A59-43F0-A1E8-F7D81B1D3531}"/>
              </a:ext>
            </a:extLst>
          </p:cNvPr>
          <p:cNvSpPr/>
          <p:nvPr/>
        </p:nvSpPr>
        <p:spPr>
          <a:xfrm rot="5400000">
            <a:off x="4850524" y="3693780"/>
            <a:ext cx="1626530" cy="415499"/>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ジョブ管理</a:t>
            </a:r>
          </a:p>
        </p:txBody>
      </p:sp>
      <p:sp>
        <p:nvSpPr>
          <p:cNvPr id="11" name="正方形/長方形 10">
            <a:extLst>
              <a:ext uri="{FF2B5EF4-FFF2-40B4-BE49-F238E27FC236}">
                <a16:creationId xmlns:a16="http://schemas.microsoft.com/office/drawing/2014/main" id="{ADABCDB0-4CDD-4B21-A302-8D63BCA4DDC8}"/>
              </a:ext>
            </a:extLst>
          </p:cNvPr>
          <p:cNvSpPr/>
          <p:nvPr/>
        </p:nvSpPr>
        <p:spPr>
          <a:xfrm>
            <a:off x="1374644" y="2115590"/>
            <a:ext cx="1484619" cy="613237"/>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ja-JP" altLang="en-US" sz="1200" dirty="0">
                <a:solidFill>
                  <a:schemeClr val="tx1"/>
                </a:solidFill>
              </a:rPr>
              <a:t>収集データ</a:t>
            </a:r>
            <a:endParaRPr lang="en-US" altLang="ja-JP" sz="1200" dirty="0">
              <a:solidFill>
                <a:schemeClr val="tx1"/>
              </a:solidFill>
            </a:endParaRPr>
          </a:p>
          <a:p>
            <a:pPr algn="r"/>
            <a:r>
              <a:rPr lang="en-US" altLang="ja-JP" sz="1200" dirty="0">
                <a:solidFill>
                  <a:schemeClr val="tx1"/>
                </a:solidFill>
              </a:rPr>
              <a:t>(RAW)</a:t>
            </a:r>
            <a:endParaRPr lang="ja-JP" altLang="en-US" sz="1200" dirty="0">
              <a:solidFill>
                <a:schemeClr val="tx1"/>
              </a:solidFill>
            </a:endParaRPr>
          </a:p>
        </p:txBody>
      </p:sp>
      <p:sp>
        <p:nvSpPr>
          <p:cNvPr id="12" name="正方形/長方形 11">
            <a:extLst>
              <a:ext uri="{FF2B5EF4-FFF2-40B4-BE49-F238E27FC236}">
                <a16:creationId xmlns:a16="http://schemas.microsoft.com/office/drawing/2014/main" id="{E3B9E0E6-C593-4207-8AA2-3C48D148064B}"/>
              </a:ext>
            </a:extLst>
          </p:cNvPr>
          <p:cNvSpPr/>
          <p:nvPr/>
        </p:nvSpPr>
        <p:spPr>
          <a:xfrm>
            <a:off x="838200" y="933798"/>
            <a:ext cx="648072" cy="590733"/>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ja-JP" sz="1200" dirty="0">
              <a:solidFill>
                <a:schemeClr val="tx1"/>
              </a:solidFill>
            </a:endParaRPr>
          </a:p>
          <a:p>
            <a:pPr algn="ctr"/>
            <a:r>
              <a:rPr lang="ja-JP" altLang="en-US" sz="1200" dirty="0">
                <a:solidFill>
                  <a:schemeClr val="tx1"/>
                </a:solidFill>
              </a:rPr>
              <a:t>センサ</a:t>
            </a:r>
          </a:p>
        </p:txBody>
      </p:sp>
      <p:cxnSp>
        <p:nvCxnSpPr>
          <p:cNvPr id="13" name="コネクタ: カギ線 38">
            <a:extLst>
              <a:ext uri="{FF2B5EF4-FFF2-40B4-BE49-F238E27FC236}">
                <a16:creationId xmlns:a16="http://schemas.microsoft.com/office/drawing/2014/main" id="{72C9347E-939F-4514-98A9-5DC4017BC04B}"/>
              </a:ext>
            </a:extLst>
          </p:cNvPr>
          <p:cNvCxnSpPr>
            <a:cxnSpLocks/>
            <a:endCxn id="46" idx="0"/>
          </p:cNvCxnSpPr>
          <p:nvPr/>
        </p:nvCxnSpPr>
        <p:spPr>
          <a:xfrm rot="10800000" flipV="1">
            <a:off x="1998663" y="4566508"/>
            <a:ext cx="1572738" cy="45207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57878632-BB56-41E1-A8A2-C3006D6CBAC6}"/>
              </a:ext>
            </a:extLst>
          </p:cNvPr>
          <p:cNvCxnSpPr>
            <a:cxnSpLocks/>
            <a:stCxn id="9" idx="2"/>
            <a:endCxn id="10" idx="0"/>
          </p:cNvCxnSpPr>
          <p:nvPr/>
        </p:nvCxnSpPr>
        <p:spPr>
          <a:xfrm flipH="1">
            <a:off x="5871540" y="3901529"/>
            <a:ext cx="3435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B7E0D0DE-ECC3-4EFB-9CAD-85711AFF28C0}"/>
              </a:ext>
            </a:extLst>
          </p:cNvPr>
          <p:cNvCxnSpPr>
            <a:cxnSpLocks/>
            <a:stCxn id="10" idx="2"/>
            <a:endCxn id="5" idx="3"/>
          </p:cNvCxnSpPr>
          <p:nvPr/>
        </p:nvCxnSpPr>
        <p:spPr>
          <a:xfrm flipH="1" flipV="1">
            <a:off x="5089658" y="3898381"/>
            <a:ext cx="366382" cy="3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5C74B73B-9FC3-4D58-ABE0-73A58798D21F}"/>
              </a:ext>
            </a:extLst>
          </p:cNvPr>
          <p:cNvCxnSpPr>
            <a:cxnSpLocks/>
            <a:endCxn id="9" idx="0"/>
          </p:cNvCxnSpPr>
          <p:nvPr/>
        </p:nvCxnSpPr>
        <p:spPr>
          <a:xfrm flipH="1" flipV="1">
            <a:off x="6726308" y="3901529"/>
            <a:ext cx="855344" cy="5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835A6362-DE3E-4DF7-A667-2D1CC030B84B}"/>
              </a:ext>
            </a:extLst>
          </p:cNvPr>
          <p:cNvSpPr txBox="1"/>
          <p:nvPr/>
        </p:nvSpPr>
        <p:spPr>
          <a:xfrm>
            <a:off x="5078459" y="4046793"/>
            <a:ext cx="415498" cy="230832"/>
          </a:xfrm>
          <a:prstGeom prst="rect">
            <a:avLst/>
          </a:prstGeom>
          <a:noFill/>
        </p:spPr>
        <p:txBody>
          <a:bodyPr wrap="square" rtlCol="0">
            <a:spAutoFit/>
          </a:bodyPr>
          <a:lstStyle/>
          <a:p>
            <a:r>
              <a:rPr lang="ja-JP" altLang="en-US" sz="900" dirty="0"/>
              <a:t>実行</a:t>
            </a:r>
          </a:p>
        </p:txBody>
      </p:sp>
      <p:sp>
        <p:nvSpPr>
          <p:cNvPr id="18" name="テキスト ボックス 17">
            <a:extLst>
              <a:ext uri="{FF2B5EF4-FFF2-40B4-BE49-F238E27FC236}">
                <a16:creationId xmlns:a16="http://schemas.microsoft.com/office/drawing/2014/main" id="{51C77461-9178-4309-A449-CDF31A8C5A3F}"/>
              </a:ext>
            </a:extLst>
          </p:cNvPr>
          <p:cNvSpPr txBox="1"/>
          <p:nvPr/>
        </p:nvSpPr>
        <p:spPr>
          <a:xfrm>
            <a:off x="5856180" y="3977543"/>
            <a:ext cx="415498" cy="369332"/>
          </a:xfrm>
          <a:prstGeom prst="rect">
            <a:avLst/>
          </a:prstGeom>
          <a:noFill/>
        </p:spPr>
        <p:txBody>
          <a:bodyPr wrap="square" rtlCol="0">
            <a:spAutoFit/>
          </a:bodyPr>
          <a:lstStyle/>
          <a:p>
            <a:r>
              <a:rPr lang="ja-JP" altLang="en-US" sz="900" dirty="0"/>
              <a:t>条件</a:t>
            </a:r>
            <a:endParaRPr lang="en-US" altLang="ja-JP" sz="900" dirty="0"/>
          </a:p>
          <a:p>
            <a:r>
              <a:rPr lang="ja-JP" altLang="en-US" sz="900" dirty="0"/>
              <a:t>設定</a:t>
            </a:r>
          </a:p>
        </p:txBody>
      </p:sp>
      <p:sp>
        <p:nvSpPr>
          <p:cNvPr id="19" name="円柱 18">
            <a:extLst>
              <a:ext uri="{FF2B5EF4-FFF2-40B4-BE49-F238E27FC236}">
                <a16:creationId xmlns:a16="http://schemas.microsoft.com/office/drawing/2014/main" id="{DC1F5A29-5A80-41DD-BAA9-02CFE938205A}"/>
              </a:ext>
            </a:extLst>
          </p:cNvPr>
          <p:cNvSpPr/>
          <p:nvPr/>
        </p:nvSpPr>
        <p:spPr>
          <a:xfrm>
            <a:off x="5230688" y="1812983"/>
            <a:ext cx="779244" cy="642686"/>
          </a:xfrm>
          <a:prstGeom prst="ca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ja-JP" sz="1200" dirty="0">
              <a:solidFill>
                <a:schemeClr val="tx1"/>
              </a:solidFill>
            </a:endParaRPr>
          </a:p>
          <a:p>
            <a:pPr algn="ctr"/>
            <a:endParaRPr lang="en-US" altLang="ja-JP" sz="1200" dirty="0">
              <a:solidFill>
                <a:schemeClr val="tx1"/>
              </a:solidFill>
            </a:endParaRPr>
          </a:p>
          <a:p>
            <a:pPr algn="ctr"/>
            <a:r>
              <a:rPr lang="ja-JP" altLang="en-US" sz="1200" dirty="0">
                <a:solidFill>
                  <a:schemeClr val="tx1"/>
                </a:solidFill>
              </a:rPr>
              <a:t>分析</a:t>
            </a:r>
            <a:endParaRPr lang="en-US" altLang="ja-JP" sz="1200" dirty="0">
              <a:solidFill>
                <a:schemeClr val="tx1"/>
              </a:solidFill>
            </a:endParaRPr>
          </a:p>
          <a:p>
            <a:pPr algn="ctr"/>
            <a:r>
              <a:rPr lang="ja-JP" altLang="en-US" sz="1200" dirty="0">
                <a:solidFill>
                  <a:schemeClr val="tx1"/>
                </a:solidFill>
              </a:rPr>
              <a:t>条件</a:t>
            </a:r>
            <a:endParaRPr lang="en-US" altLang="ja-JP" sz="1200" dirty="0">
              <a:solidFill>
                <a:schemeClr val="tx1"/>
              </a:solidFill>
            </a:endParaRPr>
          </a:p>
          <a:p>
            <a:pPr algn="ctr"/>
            <a:endParaRPr lang="en-US" altLang="ja-JP" sz="1200" dirty="0">
              <a:solidFill>
                <a:schemeClr val="tx1"/>
              </a:solidFill>
            </a:endParaRPr>
          </a:p>
          <a:p>
            <a:pPr algn="ctr"/>
            <a:endParaRPr lang="ja-JP" altLang="en-US" sz="1200" dirty="0">
              <a:solidFill>
                <a:schemeClr val="tx1"/>
              </a:solidFill>
            </a:endParaRPr>
          </a:p>
        </p:txBody>
      </p:sp>
      <p:cxnSp>
        <p:nvCxnSpPr>
          <p:cNvPr id="20" name="コネクタ: カギ線 133">
            <a:extLst>
              <a:ext uri="{FF2B5EF4-FFF2-40B4-BE49-F238E27FC236}">
                <a16:creationId xmlns:a16="http://schemas.microsoft.com/office/drawing/2014/main" id="{2BF896E6-2DC6-4773-A853-DE690A460255}"/>
              </a:ext>
            </a:extLst>
          </p:cNvPr>
          <p:cNvCxnSpPr>
            <a:cxnSpLocks/>
            <a:stCxn id="10" idx="1"/>
            <a:endCxn id="62" idx="2"/>
          </p:cNvCxnSpPr>
          <p:nvPr/>
        </p:nvCxnSpPr>
        <p:spPr>
          <a:xfrm rot="16200000" flipV="1">
            <a:off x="5228372" y="2652846"/>
            <a:ext cx="476381" cy="394456"/>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9FE5140C-7225-4A1A-829C-AC5F440E5FC5}"/>
              </a:ext>
            </a:extLst>
          </p:cNvPr>
          <p:cNvSpPr/>
          <p:nvPr/>
        </p:nvSpPr>
        <p:spPr>
          <a:xfrm>
            <a:off x="7581652" y="3501631"/>
            <a:ext cx="1165216" cy="2547356"/>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ja-JP" sz="1200" dirty="0">
              <a:solidFill>
                <a:schemeClr val="tx1"/>
              </a:solidFill>
            </a:endParaRPr>
          </a:p>
          <a:p>
            <a:pPr algn="ctr"/>
            <a:r>
              <a:rPr lang="en-US" altLang="ja-JP" sz="1200" dirty="0">
                <a:solidFill>
                  <a:schemeClr val="tx1"/>
                </a:solidFill>
              </a:rPr>
              <a:t>UI</a:t>
            </a:r>
          </a:p>
          <a:p>
            <a:pPr algn="ctr"/>
            <a:r>
              <a:rPr lang="en-US" altLang="ja-JP" sz="1200" dirty="0">
                <a:solidFill>
                  <a:schemeClr val="tx1"/>
                </a:solidFill>
              </a:rPr>
              <a:t>(WEB</a:t>
            </a:r>
            <a:r>
              <a:rPr lang="ja-JP" altLang="en-US" sz="1200" dirty="0">
                <a:solidFill>
                  <a:schemeClr val="tx1"/>
                </a:solidFill>
              </a:rPr>
              <a:t>アプリ</a:t>
            </a:r>
            <a:r>
              <a:rPr lang="en-US" altLang="ja-JP" sz="1200" dirty="0">
                <a:solidFill>
                  <a:schemeClr val="tx1"/>
                </a:solidFill>
              </a:rPr>
              <a:t>)</a:t>
            </a:r>
            <a:endParaRPr lang="ja-JP" altLang="en-US" sz="1200" dirty="0">
              <a:solidFill>
                <a:schemeClr val="tx1"/>
              </a:solidFill>
            </a:endParaRPr>
          </a:p>
        </p:txBody>
      </p:sp>
      <p:sp>
        <p:nvSpPr>
          <p:cNvPr id="22" name="正方形/長方形 21">
            <a:extLst>
              <a:ext uri="{FF2B5EF4-FFF2-40B4-BE49-F238E27FC236}">
                <a16:creationId xmlns:a16="http://schemas.microsoft.com/office/drawing/2014/main" id="{524E6822-0C10-44D5-ABC8-F52BF8ECDF75}"/>
              </a:ext>
            </a:extLst>
          </p:cNvPr>
          <p:cNvSpPr/>
          <p:nvPr/>
        </p:nvSpPr>
        <p:spPr>
          <a:xfrm>
            <a:off x="7395588" y="3002359"/>
            <a:ext cx="1470884" cy="3582473"/>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ja-JP" sz="1200" b="1" dirty="0">
                <a:solidFill>
                  <a:schemeClr val="tx1"/>
                </a:solidFill>
              </a:rPr>
              <a:t>AWS</a:t>
            </a:r>
            <a:endParaRPr lang="ja-JP" altLang="en-US" sz="1200" b="1" dirty="0">
              <a:solidFill>
                <a:schemeClr val="tx1"/>
              </a:solidFill>
            </a:endParaRPr>
          </a:p>
        </p:txBody>
      </p:sp>
      <p:cxnSp>
        <p:nvCxnSpPr>
          <p:cNvPr id="23" name="直線矢印コネクタ 22">
            <a:extLst>
              <a:ext uri="{FF2B5EF4-FFF2-40B4-BE49-F238E27FC236}">
                <a16:creationId xmlns:a16="http://schemas.microsoft.com/office/drawing/2014/main" id="{4F836788-2ADE-46A0-BBD6-FFF18132B175}"/>
              </a:ext>
            </a:extLst>
          </p:cNvPr>
          <p:cNvCxnSpPr>
            <a:cxnSpLocks/>
          </p:cNvCxnSpPr>
          <p:nvPr/>
        </p:nvCxnSpPr>
        <p:spPr>
          <a:xfrm>
            <a:off x="2903791" y="5511820"/>
            <a:ext cx="3312000" cy="0"/>
          </a:xfrm>
          <a:prstGeom prst="straightConnector1">
            <a:avLst/>
          </a:prstGeom>
          <a:ln>
            <a:headEnd type="non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C592B9DE-33A7-4CAA-B97E-700B89FAE691}"/>
              </a:ext>
            </a:extLst>
          </p:cNvPr>
          <p:cNvSpPr txBox="1"/>
          <p:nvPr/>
        </p:nvSpPr>
        <p:spPr>
          <a:xfrm>
            <a:off x="6677468" y="3977543"/>
            <a:ext cx="1013969" cy="369332"/>
          </a:xfrm>
          <a:prstGeom prst="rect">
            <a:avLst/>
          </a:prstGeom>
          <a:noFill/>
        </p:spPr>
        <p:txBody>
          <a:bodyPr wrap="square" rtlCol="0">
            <a:spAutoFit/>
          </a:bodyPr>
          <a:lstStyle/>
          <a:p>
            <a:r>
              <a:rPr lang="ja-JP" altLang="en-US" sz="900" dirty="0"/>
              <a:t>ジョブ条件設定</a:t>
            </a:r>
            <a:endParaRPr lang="en-US" altLang="ja-JP" sz="900" dirty="0"/>
          </a:p>
          <a:p>
            <a:r>
              <a:rPr lang="ja-JP" altLang="en-US" sz="900" dirty="0"/>
              <a:t>ジョブ登録</a:t>
            </a:r>
          </a:p>
        </p:txBody>
      </p:sp>
      <p:cxnSp>
        <p:nvCxnSpPr>
          <p:cNvPr id="25" name="直線矢印コネクタ 24">
            <a:extLst>
              <a:ext uri="{FF2B5EF4-FFF2-40B4-BE49-F238E27FC236}">
                <a16:creationId xmlns:a16="http://schemas.microsoft.com/office/drawing/2014/main" id="{5D73D056-3FA4-4A08-AC6D-F508255D6DB0}"/>
              </a:ext>
            </a:extLst>
          </p:cNvPr>
          <p:cNvCxnSpPr>
            <a:cxnSpLocks/>
            <a:stCxn id="57" idx="2"/>
            <a:endCxn id="21" idx="0"/>
          </p:cNvCxnSpPr>
          <p:nvPr/>
        </p:nvCxnSpPr>
        <p:spPr>
          <a:xfrm>
            <a:off x="8164260" y="2604651"/>
            <a:ext cx="0" cy="896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5FD804AD-D6DD-4C21-B146-27030D04141A}"/>
              </a:ext>
            </a:extLst>
          </p:cNvPr>
          <p:cNvSpPr txBox="1"/>
          <p:nvPr/>
        </p:nvSpPr>
        <p:spPr>
          <a:xfrm>
            <a:off x="7605717" y="1868393"/>
            <a:ext cx="1718552" cy="230832"/>
          </a:xfrm>
          <a:prstGeom prst="rect">
            <a:avLst/>
          </a:prstGeom>
          <a:noFill/>
        </p:spPr>
        <p:txBody>
          <a:bodyPr wrap="square" rtlCol="0">
            <a:spAutoFit/>
          </a:bodyPr>
          <a:lstStyle/>
          <a:p>
            <a:r>
              <a:rPr lang="ja-JP" altLang="en-US" sz="900" dirty="0"/>
              <a:t>分析対象データを指定する</a:t>
            </a:r>
          </a:p>
        </p:txBody>
      </p:sp>
      <p:sp>
        <p:nvSpPr>
          <p:cNvPr id="27" name="テキスト ボックス 26">
            <a:extLst>
              <a:ext uri="{FF2B5EF4-FFF2-40B4-BE49-F238E27FC236}">
                <a16:creationId xmlns:a16="http://schemas.microsoft.com/office/drawing/2014/main" id="{FFAE2B6B-BEC6-42F8-BAC3-A7B62D67F666}"/>
              </a:ext>
            </a:extLst>
          </p:cNvPr>
          <p:cNvSpPr txBox="1"/>
          <p:nvPr/>
        </p:nvSpPr>
        <p:spPr>
          <a:xfrm>
            <a:off x="4078560" y="1819218"/>
            <a:ext cx="1144206" cy="646331"/>
          </a:xfrm>
          <a:prstGeom prst="rect">
            <a:avLst/>
          </a:prstGeom>
          <a:noFill/>
        </p:spPr>
        <p:txBody>
          <a:bodyPr wrap="square" rtlCol="0">
            <a:spAutoFit/>
          </a:bodyPr>
          <a:lstStyle/>
          <a:p>
            <a:r>
              <a:rPr lang="ja-JP" altLang="en-US" sz="900" dirty="0"/>
              <a:t>アプリケーション</a:t>
            </a:r>
            <a:endParaRPr lang="en-US" altLang="ja-JP" sz="900" dirty="0"/>
          </a:p>
          <a:p>
            <a:r>
              <a:rPr lang="ja-JP" altLang="en-US" sz="900" dirty="0"/>
              <a:t>で利用する</a:t>
            </a:r>
            <a:endParaRPr lang="en-US" altLang="ja-JP" sz="900" dirty="0"/>
          </a:p>
          <a:p>
            <a:r>
              <a:rPr lang="ja-JP" altLang="en-US" sz="900" dirty="0"/>
              <a:t>データベース</a:t>
            </a:r>
            <a:endParaRPr lang="en-US" altLang="ja-JP" sz="900" dirty="0"/>
          </a:p>
          <a:p>
            <a:r>
              <a:rPr lang="en-US" altLang="ja-JP" sz="900" dirty="0"/>
              <a:t>NVIDIA</a:t>
            </a:r>
            <a:r>
              <a:rPr lang="ja-JP" altLang="en-US" sz="900" dirty="0"/>
              <a:t>内に構築</a:t>
            </a:r>
            <a:endParaRPr lang="en-US" altLang="ja-JP" sz="900" dirty="0"/>
          </a:p>
        </p:txBody>
      </p:sp>
      <p:sp>
        <p:nvSpPr>
          <p:cNvPr id="28" name="正方形/長方形 27">
            <a:extLst>
              <a:ext uri="{FF2B5EF4-FFF2-40B4-BE49-F238E27FC236}">
                <a16:creationId xmlns:a16="http://schemas.microsoft.com/office/drawing/2014/main" id="{DF60D088-D7A7-4D6D-A47A-6589C558FBE9}"/>
              </a:ext>
            </a:extLst>
          </p:cNvPr>
          <p:cNvSpPr/>
          <p:nvPr/>
        </p:nvSpPr>
        <p:spPr>
          <a:xfrm>
            <a:off x="3310310" y="957080"/>
            <a:ext cx="3788249" cy="5598695"/>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altLang="ja-JP" sz="1200" b="1" dirty="0">
                <a:solidFill>
                  <a:schemeClr val="tx1"/>
                </a:solidFill>
              </a:rPr>
              <a:t>NVIDIA DGX-1</a:t>
            </a:r>
            <a:endParaRPr lang="ja-JP" altLang="en-US" sz="1200" b="1" dirty="0">
              <a:solidFill>
                <a:schemeClr val="tx1"/>
              </a:solidFill>
            </a:endParaRPr>
          </a:p>
        </p:txBody>
      </p:sp>
      <p:cxnSp>
        <p:nvCxnSpPr>
          <p:cNvPr id="29" name="直線矢印コネクタ 28">
            <a:extLst>
              <a:ext uri="{FF2B5EF4-FFF2-40B4-BE49-F238E27FC236}">
                <a16:creationId xmlns:a16="http://schemas.microsoft.com/office/drawing/2014/main" id="{A4A278D3-83CE-4A3D-BA07-3A435BBF60F6}"/>
              </a:ext>
            </a:extLst>
          </p:cNvPr>
          <p:cNvCxnSpPr>
            <a:cxnSpLocks/>
            <a:stCxn id="30" idx="2"/>
            <a:endCxn id="21" idx="3"/>
          </p:cNvCxnSpPr>
          <p:nvPr/>
        </p:nvCxnSpPr>
        <p:spPr>
          <a:xfrm flipH="1" flipV="1">
            <a:off x="8746868" y="4775309"/>
            <a:ext cx="241964" cy="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正方形/長方形 29">
            <a:extLst>
              <a:ext uri="{FF2B5EF4-FFF2-40B4-BE49-F238E27FC236}">
                <a16:creationId xmlns:a16="http://schemas.microsoft.com/office/drawing/2014/main" id="{1F06D990-5F57-4A03-9780-230E08CC8F29}"/>
              </a:ext>
            </a:extLst>
          </p:cNvPr>
          <p:cNvSpPr/>
          <p:nvPr/>
        </p:nvSpPr>
        <p:spPr>
          <a:xfrm rot="5400000">
            <a:off x="8767910" y="4542597"/>
            <a:ext cx="908231" cy="466386"/>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ja-JP" altLang="en-US" sz="1200" dirty="0">
                <a:solidFill>
                  <a:schemeClr val="tx1"/>
                </a:solidFill>
              </a:rPr>
              <a:t>閲覧者</a:t>
            </a:r>
          </a:p>
        </p:txBody>
      </p:sp>
      <p:sp>
        <p:nvSpPr>
          <p:cNvPr id="31" name="正方形/長方形 30">
            <a:extLst>
              <a:ext uri="{FF2B5EF4-FFF2-40B4-BE49-F238E27FC236}">
                <a16:creationId xmlns:a16="http://schemas.microsoft.com/office/drawing/2014/main" id="{EF3BD07C-6AD1-48D4-824D-AAC564657B0D}"/>
              </a:ext>
            </a:extLst>
          </p:cNvPr>
          <p:cNvSpPr/>
          <p:nvPr/>
        </p:nvSpPr>
        <p:spPr>
          <a:xfrm>
            <a:off x="1057582" y="1796154"/>
            <a:ext cx="1997858" cy="4734599"/>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r>
              <a:rPr lang="en-US" altLang="ja-JP" sz="1200" b="1" dirty="0">
                <a:solidFill>
                  <a:schemeClr val="tx1"/>
                </a:solidFill>
              </a:rPr>
              <a:t>NAS</a:t>
            </a:r>
            <a:endParaRPr lang="ja-JP" altLang="en-US" sz="1200" b="1" dirty="0">
              <a:solidFill>
                <a:schemeClr val="tx1"/>
              </a:solidFill>
            </a:endParaRPr>
          </a:p>
        </p:txBody>
      </p:sp>
      <p:sp>
        <p:nvSpPr>
          <p:cNvPr id="32" name="テキスト ボックス 31">
            <a:extLst>
              <a:ext uri="{FF2B5EF4-FFF2-40B4-BE49-F238E27FC236}">
                <a16:creationId xmlns:a16="http://schemas.microsoft.com/office/drawing/2014/main" id="{398AB230-F10B-44DF-92A9-505B44EE6C5F}"/>
              </a:ext>
            </a:extLst>
          </p:cNvPr>
          <p:cNvSpPr txBox="1"/>
          <p:nvPr/>
        </p:nvSpPr>
        <p:spPr>
          <a:xfrm>
            <a:off x="334144" y="2426296"/>
            <a:ext cx="770494" cy="230832"/>
          </a:xfrm>
          <a:prstGeom prst="rect">
            <a:avLst/>
          </a:prstGeom>
          <a:noFill/>
        </p:spPr>
        <p:txBody>
          <a:bodyPr wrap="square" rtlCol="0">
            <a:spAutoFit/>
          </a:bodyPr>
          <a:lstStyle/>
          <a:p>
            <a:r>
              <a:rPr lang="ja-JP" altLang="en-US" sz="900" dirty="0"/>
              <a:t>　前処理</a:t>
            </a:r>
            <a:endParaRPr lang="en-US" altLang="ja-JP" sz="900" dirty="0"/>
          </a:p>
        </p:txBody>
      </p:sp>
      <p:sp>
        <p:nvSpPr>
          <p:cNvPr id="33" name="テキスト ボックス 32">
            <a:extLst>
              <a:ext uri="{FF2B5EF4-FFF2-40B4-BE49-F238E27FC236}">
                <a16:creationId xmlns:a16="http://schemas.microsoft.com/office/drawing/2014/main" id="{C3A8514E-D506-446E-A4CA-FC6E60669F82}"/>
              </a:ext>
            </a:extLst>
          </p:cNvPr>
          <p:cNvSpPr txBox="1"/>
          <p:nvPr/>
        </p:nvSpPr>
        <p:spPr>
          <a:xfrm>
            <a:off x="2250196" y="4010472"/>
            <a:ext cx="1013971" cy="230832"/>
          </a:xfrm>
          <a:prstGeom prst="rect">
            <a:avLst/>
          </a:prstGeom>
          <a:noFill/>
        </p:spPr>
        <p:txBody>
          <a:bodyPr wrap="square" rtlCol="0">
            <a:spAutoFit/>
          </a:bodyPr>
          <a:lstStyle/>
          <a:p>
            <a:r>
              <a:rPr lang="ja-JP" altLang="en-US" sz="900" dirty="0"/>
              <a:t>分析対象読込</a:t>
            </a:r>
            <a:endParaRPr lang="en-US" altLang="ja-JP" sz="900" dirty="0"/>
          </a:p>
        </p:txBody>
      </p:sp>
      <p:cxnSp>
        <p:nvCxnSpPr>
          <p:cNvPr id="34" name="コネクタ: カギ線 39">
            <a:extLst>
              <a:ext uri="{FF2B5EF4-FFF2-40B4-BE49-F238E27FC236}">
                <a16:creationId xmlns:a16="http://schemas.microsoft.com/office/drawing/2014/main" id="{1BAFBE3A-0A33-4F94-A880-6D2CCB77223D}"/>
              </a:ext>
            </a:extLst>
          </p:cNvPr>
          <p:cNvCxnSpPr>
            <a:cxnSpLocks/>
            <a:endCxn id="43" idx="2"/>
          </p:cNvCxnSpPr>
          <p:nvPr/>
        </p:nvCxnSpPr>
        <p:spPr>
          <a:xfrm rot="10800000">
            <a:off x="2235244" y="3794450"/>
            <a:ext cx="1342251" cy="432049"/>
          </a:xfrm>
          <a:prstGeom prst="bentConnector2">
            <a:avLst/>
          </a:prstGeom>
          <a:ln>
            <a:headEnd type="triangle"/>
            <a:tailEnd type="non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0B926663-0DFC-4E68-AC76-188F222826B1}"/>
              </a:ext>
            </a:extLst>
          </p:cNvPr>
          <p:cNvSpPr txBox="1"/>
          <p:nvPr/>
        </p:nvSpPr>
        <p:spPr>
          <a:xfrm>
            <a:off x="2010478" y="4685643"/>
            <a:ext cx="1013971" cy="230832"/>
          </a:xfrm>
          <a:prstGeom prst="rect">
            <a:avLst/>
          </a:prstGeom>
          <a:noFill/>
        </p:spPr>
        <p:txBody>
          <a:bodyPr wrap="square" rtlCol="0">
            <a:spAutoFit/>
          </a:bodyPr>
          <a:lstStyle/>
          <a:p>
            <a:r>
              <a:rPr lang="ja-JP" altLang="en-US" sz="900" dirty="0"/>
              <a:t>分析結果出力</a:t>
            </a:r>
            <a:endParaRPr lang="en-US" altLang="ja-JP" sz="900" dirty="0"/>
          </a:p>
        </p:txBody>
      </p:sp>
      <p:cxnSp>
        <p:nvCxnSpPr>
          <p:cNvPr id="36" name="コネクタ: カギ線 45">
            <a:extLst>
              <a:ext uri="{FF2B5EF4-FFF2-40B4-BE49-F238E27FC236}">
                <a16:creationId xmlns:a16="http://schemas.microsoft.com/office/drawing/2014/main" id="{CD1C0A88-C470-4089-BF66-203FA37C907C}"/>
              </a:ext>
            </a:extLst>
          </p:cNvPr>
          <p:cNvCxnSpPr>
            <a:cxnSpLocks/>
            <a:stCxn id="12" idx="2"/>
            <a:endCxn id="11" idx="1"/>
          </p:cNvCxnSpPr>
          <p:nvPr/>
        </p:nvCxnSpPr>
        <p:spPr>
          <a:xfrm rot="16200000" flipH="1">
            <a:off x="819600" y="1867166"/>
            <a:ext cx="897678" cy="21240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矢印: 右カーブ 98">
            <a:extLst>
              <a:ext uri="{FF2B5EF4-FFF2-40B4-BE49-F238E27FC236}">
                <a16:creationId xmlns:a16="http://schemas.microsoft.com/office/drawing/2014/main" id="{7F5B0B75-8B3F-4DF7-A25B-1B31BBCEC5B9}"/>
              </a:ext>
            </a:extLst>
          </p:cNvPr>
          <p:cNvSpPr/>
          <p:nvPr/>
        </p:nvSpPr>
        <p:spPr>
          <a:xfrm>
            <a:off x="766192" y="2498305"/>
            <a:ext cx="480196" cy="1028241"/>
          </a:xfrm>
          <a:prstGeom prst="curvedRightArrow">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200" dirty="0">
              <a:solidFill>
                <a:schemeClr val="tx1"/>
              </a:solidFill>
            </a:endParaRPr>
          </a:p>
        </p:txBody>
      </p:sp>
      <p:sp>
        <p:nvSpPr>
          <p:cNvPr id="38" name="テキスト ボックス 37">
            <a:extLst>
              <a:ext uri="{FF2B5EF4-FFF2-40B4-BE49-F238E27FC236}">
                <a16:creationId xmlns:a16="http://schemas.microsoft.com/office/drawing/2014/main" id="{272004A6-748B-4698-89C8-E0E69C895458}"/>
              </a:ext>
            </a:extLst>
          </p:cNvPr>
          <p:cNvSpPr txBox="1"/>
          <p:nvPr/>
        </p:nvSpPr>
        <p:spPr>
          <a:xfrm>
            <a:off x="3013280" y="1049692"/>
            <a:ext cx="968620" cy="507831"/>
          </a:xfrm>
          <a:prstGeom prst="rect">
            <a:avLst/>
          </a:prstGeom>
          <a:noFill/>
        </p:spPr>
        <p:txBody>
          <a:bodyPr wrap="square" rtlCol="0">
            <a:spAutoFit/>
          </a:bodyPr>
          <a:lstStyle/>
          <a:p>
            <a:r>
              <a:rPr lang="en-US" altLang="ja-JP" sz="900" dirty="0"/>
              <a:t>NVIDIA</a:t>
            </a:r>
            <a:r>
              <a:rPr lang="ja-JP" altLang="en-US" sz="900" dirty="0"/>
              <a:t>マシンは</a:t>
            </a:r>
            <a:r>
              <a:rPr lang="en-US" altLang="ja-JP" sz="900" dirty="0"/>
              <a:t>NAS</a:t>
            </a:r>
            <a:r>
              <a:rPr lang="ja-JP" altLang="en-US" sz="900" dirty="0"/>
              <a:t>を</a:t>
            </a:r>
            <a:r>
              <a:rPr lang="en-US" altLang="ja-JP" sz="900" dirty="0"/>
              <a:t>OS</a:t>
            </a:r>
            <a:r>
              <a:rPr lang="ja-JP" altLang="en-US" sz="900" dirty="0"/>
              <a:t>で</a:t>
            </a:r>
            <a:r>
              <a:rPr lang="en-US" altLang="ja-JP" sz="900" dirty="0"/>
              <a:t>mount</a:t>
            </a:r>
            <a:endParaRPr lang="ja-JP" altLang="en-US" sz="900" dirty="0"/>
          </a:p>
        </p:txBody>
      </p:sp>
      <p:cxnSp>
        <p:nvCxnSpPr>
          <p:cNvPr id="39" name="コネクタ: 曲線 101">
            <a:extLst>
              <a:ext uri="{FF2B5EF4-FFF2-40B4-BE49-F238E27FC236}">
                <a16:creationId xmlns:a16="http://schemas.microsoft.com/office/drawing/2014/main" id="{FECBB03B-D368-4A7E-B276-07EF00C324E2}"/>
              </a:ext>
            </a:extLst>
          </p:cNvPr>
          <p:cNvCxnSpPr>
            <a:cxnSpLocks/>
            <a:stCxn id="38" idx="1"/>
          </p:cNvCxnSpPr>
          <p:nvPr/>
        </p:nvCxnSpPr>
        <p:spPr>
          <a:xfrm rot="10800000" flipV="1">
            <a:off x="2884646" y="1303607"/>
            <a:ext cx="128634" cy="59073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0" name="グループ化 39">
            <a:extLst>
              <a:ext uri="{FF2B5EF4-FFF2-40B4-BE49-F238E27FC236}">
                <a16:creationId xmlns:a16="http://schemas.microsoft.com/office/drawing/2014/main" id="{992B2701-FFFF-454C-BFF3-5F928D51344E}"/>
              </a:ext>
            </a:extLst>
          </p:cNvPr>
          <p:cNvGrpSpPr/>
          <p:nvPr/>
        </p:nvGrpSpPr>
        <p:grpSpPr>
          <a:xfrm>
            <a:off x="1344036" y="3002360"/>
            <a:ext cx="1545832" cy="792088"/>
            <a:chOff x="971600" y="2852936"/>
            <a:chExt cx="1545832" cy="792088"/>
          </a:xfrm>
        </p:grpSpPr>
        <p:sp>
          <p:nvSpPr>
            <p:cNvPr id="41" name="正方形/長方形 40">
              <a:extLst>
                <a:ext uri="{FF2B5EF4-FFF2-40B4-BE49-F238E27FC236}">
                  <a16:creationId xmlns:a16="http://schemas.microsoft.com/office/drawing/2014/main" id="{B354FA19-FF07-469D-A7AD-BF65A6597559}"/>
                </a:ext>
              </a:extLst>
            </p:cNvPr>
            <p:cNvSpPr/>
            <p:nvPr/>
          </p:nvSpPr>
          <p:spPr>
            <a:xfrm>
              <a:off x="971600" y="2852936"/>
              <a:ext cx="1309253" cy="613237"/>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分析対象データ</a:t>
              </a:r>
            </a:p>
          </p:txBody>
        </p:sp>
        <p:sp>
          <p:nvSpPr>
            <p:cNvPr id="42" name="正方形/長方形 41">
              <a:extLst>
                <a:ext uri="{FF2B5EF4-FFF2-40B4-BE49-F238E27FC236}">
                  <a16:creationId xmlns:a16="http://schemas.microsoft.com/office/drawing/2014/main" id="{31D912BE-1C6A-47A9-9E0D-640D8C01AAC2}"/>
                </a:ext>
              </a:extLst>
            </p:cNvPr>
            <p:cNvSpPr/>
            <p:nvPr/>
          </p:nvSpPr>
          <p:spPr>
            <a:xfrm>
              <a:off x="1077272" y="2924944"/>
              <a:ext cx="1309253" cy="613237"/>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分析対象データ</a:t>
              </a:r>
            </a:p>
          </p:txBody>
        </p:sp>
        <p:sp>
          <p:nvSpPr>
            <p:cNvPr id="43" name="正方形/長方形 42">
              <a:extLst>
                <a:ext uri="{FF2B5EF4-FFF2-40B4-BE49-F238E27FC236}">
                  <a16:creationId xmlns:a16="http://schemas.microsoft.com/office/drawing/2014/main" id="{54CA314C-FA7B-4A42-A2AC-F6C60F8FD82E}"/>
                </a:ext>
              </a:extLst>
            </p:cNvPr>
            <p:cNvSpPr/>
            <p:nvPr/>
          </p:nvSpPr>
          <p:spPr>
            <a:xfrm>
              <a:off x="1208179" y="3031787"/>
              <a:ext cx="1309253" cy="613237"/>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ja-JP" altLang="en-US" sz="1200" dirty="0">
                  <a:solidFill>
                    <a:schemeClr val="tx1"/>
                  </a:solidFill>
                </a:rPr>
                <a:t>分析対象</a:t>
              </a:r>
              <a:endParaRPr lang="en-US" altLang="ja-JP" sz="1200" dirty="0">
                <a:solidFill>
                  <a:schemeClr val="tx1"/>
                </a:solidFill>
              </a:endParaRPr>
            </a:p>
            <a:p>
              <a:pPr algn="r"/>
              <a:r>
                <a:rPr lang="ja-JP" altLang="en-US" sz="1200" dirty="0">
                  <a:solidFill>
                    <a:schemeClr val="tx1"/>
                  </a:solidFill>
                </a:rPr>
                <a:t>データ</a:t>
              </a:r>
            </a:p>
          </p:txBody>
        </p:sp>
        <p:pic>
          <p:nvPicPr>
            <p:cNvPr id="44" name="図 43">
              <a:extLst>
                <a:ext uri="{FF2B5EF4-FFF2-40B4-BE49-F238E27FC236}">
                  <a16:creationId xmlns:a16="http://schemas.microsoft.com/office/drawing/2014/main" id="{008265FE-1BF5-4845-88F5-02BD8BA357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6846" y="3161690"/>
              <a:ext cx="312116" cy="312116"/>
            </a:xfrm>
            <a:prstGeom prst="rect">
              <a:avLst/>
            </a:prstGeom>
          </p:spPr>
        </p:pic>
      </p:grpSp>
      <p:grpSp>
        <p:nvGrpSpPr>
          <p:cNvPr id="45" name="グループ化 44">
            <a:extLst>
              <a:ext uri="{FF2B5EF4-FFF2-40B4-BE49-F238E27FC236}">
                <a16:creationId xmlns:a16="http://schemas.microsoft.com/office/drawing/2014/main" id="{AB0EF4E5-4F90-49AB-BD07-E525F4DB5DCD}"/>
              </a:ext>
            </a:extLst>
          </p:cNvPr>
          <p:cNvGrpSpPr/>
          <p:nvPr/>
        </p:nvGrpSpPr>
        <p:grpSpPr>
          <a:xfrm>
            <a:off x="1344036" y="5018585"/>
            <a:ext cx="1545832" cy="783635"/>
            <a:chOff x="1005722" y="5283279"/>
            <a:chExt cx="1545832" cy="783635"/>
          </a:xfrm>
        </p:grpSpPr>
        <p:sp>
          <p:nvSpPr>
            <p:cNvPr id="46" name="正方形/長方形 45">
              <a:extLst>
                <a:ext uri="{FF2B5EF4-FFF2-40B4-BE49-F238E27FC236}">
                  <a16:creationId xmlns:a16="http://schemas.microsoft.com/office/drawing/2014/main" id="{5EA2EC15-F9D0-485A-8627-A3BB6A722EF0}"/>
                </a:ext>
              </a:extLst>
            </p:cNvPr>
            <p:cNvSpPr/>
            <p:nvPr/>
          </p:nvSpPr>
          <p:spPr>
            <a:xfrm>
              <a:off x="1005722" y="5283279"/>
              <a:ext cx="1309253" cy="613237"/>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分析対象データ</a:t>
              </a:r>
            </a:p>
          </p:txBody>
        </p:sp>
        <p:sp>
          <p:nvSpPr>
            <p:cNvPr id="47" name="正方形/長方形 46">
              <a:extLst>
                <a:ext uri="{FF2B5EF4-FFF2-40B4-BE49-F238E27FC236}">
                  <a16:creationId xmlns:a16="http://schemas.microsoft.com/office/drawing/2014/main" id="{FFB781A6-B786-42FA-A88A-92447D1C7DAE}"/>
                </a:ext>
              </a:extLst>
            </p:cNvPr>
            <p:cNvSpPr/>
            <p:nvPr/>
          </p:nvSpPr>
          <p:spPr>
            <a:xfrm>
              <a:off x="1111394" y="5355287"/>
              <a:ext cx="1309253" cy="613237"/>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分析対象データ</a:t>
              </a:r>
            </a:p>
          </p:txBody>
        </p:sp>
        <p:sp>
          <p:nvSpPr>
            <p:cNvPr id="48" name="正方形/長方形 47">
              <a:extLst>
                <a:ext uri="{FF2B5EF4-FFF2-40B4-BE49-F238E27FC236}">
                  <a16:creationId xmlns:a16="http://schemas.microsoft.com/office/drawing/2014/main" id="{7F2BA147-7CF3-440D-898A-A1973B67637E}"/>
                </a:ext>
              </a:extLst>
            </p:cNvPr>
            <p:cNvSpPr/>
            <p:nvPr/>
          </p:nvSpPr>
          <p:spPr>
            <a:xfrm>
              <a:off x="1242301" y="5453677"/>
              <a:ext cx="1309253" cy="613237"/>
            </a:xfrm>
            <a:prstGeom prst="rect">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ja-JP" altLang="en-US" sz="1200" dirty="0">
                  <a:solidFill>
                    <a:schemeClr val="tx1"/>
                  </a:solidFill>
                </a:rPr>
                <a:t>分析結果</a:t>
              </a:r>
              <a:endParaRPr lang="en-US" altLang="ja-JP" sz="1200" dirty="0">
                <a:solidFill>
                  <a:schemeClr val="tx1"/>
                </a:solidFill>
              </a:endParaRPr>
            </a:p>
            <a:p>
              <a:pPr algn="r"/>
              <a:r>
                <a:rPr lang="ja-JP" altLang="en-US" sz="1200" dirty="0">
                  <a:solidFill>
                    <a:schemeClr val="tx1"/>
                  </a:solidFill>
                </a:rPr>
                <a:t>データ</a:t>
              </a:r>
            </a:p>
          </p:txBody>
        </p:sp>
        <p:pic>
          <p:nvPicPr>
            <p:cNvPr id="49" name="図 48">
              <a:extLst>
                <a:ext uri="{FF2B5EF4-FFF2-40B4-BE49-F238E27FC236}">
                  <a16:creationId xmlns:a16="http://schemas.microsoft.com/office/drawing/2014/main" id="{DDFDA0CF-B26E-448E-A3E1-B16FD8F26B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6338" y="5604237"/>
              <a:ext cx="312116" cy="312116"/>
            </a:xfrm>
            <a:prstGeom prst="rect">
              <a:avLst/>
            </a:prstGeom>
          </p:spPr>
        </p:pic>
      </p:grpSp>
      <p:pic>
        <p:nvPicPr>
          <p:cNvPr id="50" name="図 49">
            <a:extLst>
              <a:ext uri="{FF2B5EF4-FFF2-40B4-BE49-F238E27FC236}">
                <a16:creationId xmlns:a16="http://schemas.microsoft.com/office/drawing/2014/main" id="{0B65B923-2C5C-4BA6-BC94-5CA1BF94B6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1261" y="2249743"/>
            <a:ext cx="312116" cy="312116"/>
          </a:xfrm>
          <a:prstGeom prst="rect">
            <a:avLst/>
          </a:prstGeom>
        </p:spPr>
      </p:pic>
      <p:pic>
        <p:nvPicPr>
          <p:cNvPr id="51" name="図 50">
            <a:extLst>
              <a:ext uri="{FF2B5EF4-FFF2-40B4-BE49-F238E27FC236}">
                <a16:creationId xmlns:a16="http://schemas.microsoft.com/office/drawing/2014/main" id="{CF24FF0C-0672-46DD-9770-0A65CE268D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8338" y="3088264"/>
            <a:ext cx="312116" cy="312116"/>
          </a:xfrm>
          <a:prstGeom prst="rect">
            <a:avLst/>
          </a:prstGeom>
        </p:spPr>
      </p:pic>
      <p:pic>
        <p:nvPicPr>
          <p:cNvPr id="52" name="図 51">
            <a:extLst>
              <a:ext uri="{FF2B5EF4-FFF2-40B4-BE49-F238E27FC236}">
                <a16:creationId xmlns:a16="http://schemas.microsoft.com/office/drawing/2014/main" id="{FDB1E519-7269-4449-84ED-6BF1A49F0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076" y="2138264"/>
            <a:ext cx="312116" cy="312116"/>
          </a:xfrm>
          <a:prstGeom prst="rect">
            <a:avLst/>
          </a:prstGeom>
        </p:spPr>
      </p:pic>
      <p:pic>
        <p:nvPicPr>
          <p:cNvPr id="53" name="図 52">
            <a:extLst>
              <a:ext uri="{FF2B5EF4-FFF2-40B4-BE49-F238E27FC236}">
                <a16:creationId xmlns:a16="http://schemas.microsoft.com/office/drawing/2014/main" id="{080594A4-30F6-44D6-953F-89E6BB7C767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96229" y="4376054"/>
            <a:ext cx="234087" cy="234087"/>
          </a:xfrm>
          <a:prstGeom prst="rect">
            <a:avLst/>
          </a:prstGeom>
        </p:spPr>
      </p:pic>
      <p:pic>
        <p:nvPicPr>
          <p:cNvPr id="54" name="図 53">
            <a:extLst>
              <a:ext uri="{FF2B5EF4-FFF2-40B4-BE49-F238E27FC236}">
                <a16:creationId xmlns:a16="http://schemas.microsoft.com/office/drawing/2014/main" id="{549F2412-3320-41D8-80F5-81F5594D39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7732" y="3140170"/>
            <a:ext cx="312116" cy="312116"/>
          </a:xfrm>
          <a:prstGeom prst="rect">
            <a:avLst/>
          </a:prstGeom>
        </p:spPr>
      </p:pic>
      <p:pic>
        <p:nvPicPr>
          <p:cNvPr id="55" name="図 54">
            <a:extLst>
              <a:ext uri="{FF2B5EF4-FFF2-40B4-BE49-F238E27FC236}">
                <a16:creationId xmlns:a16="http://schemas.microsoft.com/office/drawing/2014/main" id="{A71D9335-0A52-4D63-BFA1-30FBF2301EF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54" y="3207977"/>
            <a:ext cx="234087" cy="234087"/>
          </a:xfrm>
          <a:prstGeom prst="rect">
            <a:avLst/>
          </a:prstGeom>
        </p:spPr>
      </p:pic>
      <p:pic>
        <p:nvPicPr>
          <p:cNvPr id="56" name="図 55">
            <a:extLst>
              <a:ext uri="{FF2B5EF4-FFF2-40B4-BE49-F238E27FC236}">
                <a16:creationId xmlns:a16="http://schemas.microsoft.com/office/drawing/2014/main" id="{D8604B16-9EA6-48E3-A20F-2283A6D039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02722" y="3530436"/>
            <a:ext cx="234087" cy="234087"/>
          </a:xfrm>
          <a:prstGeom prst="rect">
            <a:avLst/>
          </a:prstGeom>
        </p:spPr>
      </p:pic>
      <p:sp>
        <p:nvSpPr>
          <p:cNvPr id="57" name="正方形/長方形 56">
            <a:extLst>
              <a:ext uri="{FF2B5EF4-FFF2-40B4-BE49-F238E27FC236}">
                <a16:creationId xmlns:a16="http://schemas.microsoft.com/office/drawing/2014/main" id="{2069F3F9-4D67-40A0-A7B4-558DCA5527DB}"/>
              </a:ext>
            </a:extLst>
          </p:cNvPr>
          <p:cNvSpPr/>
          <p:nvPr/>
        </p:nvSpPr>
        <p:spPr>
          <a:xfrm>
            <a:off x="7710145" y="2138264"/>
            <a:ext cx="908231" cy="466386"/>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ja-JP" altLang="en-US" sz="1200" dirty="0">
                <a:solidFill>
                  <a:schemeClr val="tx1"/>
                </a:solidFill>
              </a:rPr>
              <a:t>分析者</a:t>
            </a:r>
          </a:p>
        </p:txBody>
      </p:sp>
      <p:pic>
        <p:nvPicPr>
          <p:cNvPr id="58" name="図 57">
            <a:extLst>
              <a:ext uri="{FF2B5EF4-FFF2-40B4-BE49-F238E27FC236}">
                <a16:creationId xmlns:a16="http://schemas.microsoft.com/office/drawing/2014/main" id="{651DCBFD-69BF-4B2D-B4D2-3E9439D515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8683" y="2254414"/>
            <a:ext cx="234087" cy="234087"/>
          </a:xfrm>
          <a:prstGeom prst="rect">
            <a:avLst/>
          </a:prstGeom>
        </p:spPr>
      </p:pic>
      <p:pic>
        <p:nvPicPr>
          <p:cNvPr id="59" name="図 58">
            <a:extLst>
              <a:ext uri="{FF2B5EF4-FFF2-40B4-BE49-F238E27FC236}">
                <a16:creationId xmlns:a16="http://schemas.microsoft.com/office/drawing/2014/main" id="{62FB3ED6-A412-4035-8D5F-0621A8280D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36899" y="1890305"/>
            <a:ext cx="234087" cy="234087"/>
          </a:xfrm>
          <a:prstGeom prst="rect">
            <a:avLst/>
          </a:prstGeom>
        </p:spPr>
      </p:pic>
      <p:pic>
        <p:nvPicPr>
          <p:cNvPr id="60" name="図 59">
            <a:extLst>
              <a:ext uri="{FF2B5EF4-FFF2-40B4-BE49-F238E27FC236}">
                <a16:creationId xmlns:a16="http://schemas.microsoft.com/office/drawing/2014/main" id="{E1F5C880-BE64-4C45-9197-9810E6E28C8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21354" y="1041344"/>
            <a:ext cx="234087" cy="234087"/>
          </a:xfrm>
          <a:prstGeom prst="rect">
            <a:avLst/>
          </a:prstGeom>
        </p:spPr>
      </p:pic>
      <p:sp>
        <p:nvSpPr>
          <p:cNvPr id="61" name="円柱 60">
            <a:extLst>
              <a:ext uri="{FF2B5EF4-FFF2-40B4-BE49-F238E27FC236}">
                <a16:creationId xmlns:a16="http://schemas.microsoft.com/office/drawing/2014/main" id="{D9D13154-4E55-4053-95EE-8698E43060DD}"/>
              </a:ext>
            </a:extLst>
          </p:cNvPr>
          <p:cNvSpPr/>
          <p:nvPr/>
        </p:nvSpPr>
        <p:spPr>
          <a:xfrm>
            <a:off x="6098140" y="1809339"/>
            <a:ext cx="779244" cy="646331"/>
          </a:xfrm>
          <a:prstGeom prst="ca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tLang="ja-JP" sz="1200" dirty="0">
              <a:solidFill>
                <a:schemeClr val="tx1"/>
              </a:solidFill>
            </a:endParaRPr>
          </a:p>
          <a:p>
            <a:pPr algn="ctr"/>
            <a:endParaRPr lang="en-US" altLang="ja-JP" sz="1200" dirty="0">
              <a:solidFill>
                <a:schemeClr val="tx1"/>
              </a:solidFill>
            </a:endParaRPr>
          </a:p>
          <a:p>
            <a:pPr algn="ctr"/>
            <a:r>
              <a:rPr lang="ja-JP" altLang="en-US" sz="1200" dirty="0">
                <a:solidFill>
                  <a:schemeClr val="tx1"/>
                </a:solidFill>
              </a:rPr>
              <a:t>ジョブ</a:t>
            </a:r>
            <a:endParaRPr lang="en-US" altLang="ja-JP" sz="1200" dirty="0">
              <a:solidFill>
                <a:schemeClr val="tx1"/>
              </a:solidFill>
            </a:endParaRPr>
          </a:p>
          <a:p>
            <a:pPr algn="ctr"/>
            <a:r>
              <a:rPr lang="ja-JP" altLang="en-US" sz="1200" dirty="0">
                <a:solidFill>
                  <a:schemeClr val="tx1"/>
                </a:solidFill>
              </a:rPr>
              <a:t>管理</a:t>
            </a:r>
            <a:endParaRPr lang="en-US" altLang="ja-JP" sz="1200" dirty="0">
              <a:solidFill>
                <a:schemeClr val="tx1"/>
              </a:solidFill>
            </a:endParaRPr>
          </a:p>
          <a:p>
            <a:pPr algn="ctr"/>
            <a:endParaRPr lang="en-US" altLang="ja-JP" sz="1200" dirty="0">
              <a:solidFill>
                <a:schemeClr val="tx1"/>
              </a:solidFill>
            </a:endParaRPr>
          </a:p>
          <a:p>
            <a:pPr algn="ctr"/>
            <a:endParaRPr lang="ja-JP" altLang="en-US" sz="1200" dirty="0">
              <a:solidFill>
                <a:schemeClr val="tx1"/>
              </a:solidFill>
            </a:endParaRPr>
          </a:p>
        </p:txBody>
      </p:sp>
      <p:sp>
        <p:nvSpPr>
          <p:cNvPr id="62" name="正方形/長方形 61">
            <a:extLst>
              <a:ext uri="{FF2B5EF4-FFF2-40B4-BE49-F238E27FC236}">
                <a16:creationId xmlns:a16="http://schemas.microsoft.com/office/drawing/2014/main" id="{E9046BD3-428C-4B14-92CF-28A1A3CB69D3}"/>
              </a:ext>
            </a:extLst>
          </p:cNvPr>
          <p:cNvSpPr/>
          <p:nvPr/>
        </p:nvSpPr>
        <p:spPr>
          <a:xfrm>
            <a:off x="3571402" y="1562201"/>
            <a:ext cx="3395863" cy="1049683"/>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algn="ctr"/>
            <a:endParaRPr lang="en-US" altLang="ja-JP" sz="1200" dirty="0">
              <a:solidFill>
                <a:schemeClr val="tx1"/>
              </a:solidFill>
            </a:endParaRPr>
          </a:p>
        </p:txBody>
      </p:sp>
      <p:pic>
        <p:nvPicPr>
          <p:cNvPr id="63" name="図 62">
            <a:extLst>
              <a:ext uri="{FF2B5EF4-FFF2-40B4-BE49-F238E27FC236}">
                <a16:creationId xmlns:a16="http://schemas.microsoft.com/office/drawing/2014/main" id="{AD030536-7B8F-46EF-9A71-3945A680D2E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06216" y="1650134"/>
            <a:ext cx="312116" cy="312116"/>
          </a:xfrm>
          <a:prstGeom prst="rect">
            <a:avLst/>
          </a:prstGeom>
        </p:spPr>
      </p:pic>
      <p:pic>
        <p:nvPicPr>
          <p:cNvPr id="64" name="図 63">
            <a:extLst>
              <a:ext uri="{FF2B5EF4-FFF2-40B4-BE49-F238E27FC236}">
                <a16:creationId xmlns:a16="http://schemas.microsoft.com/office/drawing/2014/main" id="{F9A10D2D-9278-4E19-BEE1-8DB6E5C9BC5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48869" y="1000881"/>
            <a:ext cx="234087" cy="234087"/>
          </a:xfrm>
          <a:prstGeom prst="rect">
            <a:avLst/>
          </a:prstGeom>
        </p:spPr>
      </p:pic>
      <p:grpSp>
        <p:nvGrpSpPr>
          <p:cNvPr id="65" name="グループ化 64">
            <a:extLst>
              <a:ext uri="{FF2B5EF4-FFF2-40B4-BE49-F238E27FC236}">
                <a16:creationId xmlns:a16="http://schemas.microsoft.com/office/drawing/2014/main" id="{38E16B0C-A01D-4DB8-8882-1C4F40328893}"/>
              </a:ext>
            </a:extLst>
          </p:cNvPr>
          <p:cNvGrpSpPr/>
          <p:nvPr/>
        </p:nvGrpSpPr>
        <p:grpSpPr>
          <a:xfrm>
            <a:off x="1246388" y="1443287"/>
            <a:ext cx="5984886" cy="4822295"/>
            <a:chOff x="875732" y="1430224"/>
            <a:chExt cx="5984886" cy="4735081"/>
          </a:xfrm>
        </p:grpSpPr>
        <p:cxnSp>
          <p:nvCxnSpPr>
            <p:cNvPr id="66" name="直線コネクタ 65">
              <a:extLst>
                <a:ext uri="{FF2B5EF4-FFF2-40B4-BE49-F238E27FC236}">
                  <a16:creationId xmlns:a16="http://schemas.microsoft.com/office/drawing/2014/main" id="{8B5A0708-4033-4637-991B-FF22378569F0}"/>
                </a:ext>
              </a:extLst>
            </p:cNvPr>
            <p:cNvCxnSpPr>
              <a:cxnSpLocks/>
            </p:cNvCxnSpPr>
            <p:nvPr/>
          </p:nvCxnSpPr>
          <p:spPr>
            <a:xfrm>
              <a:off x="3126934" y="1430224"/>
              <a:ext cx="0" cy="25347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0784BB60-EA1E-41FD-8EE7-8E763293A7C6}"/>
                </a:ext>
              </a:extLst>
            </p:cNvPr>
            <p:cNvCxnSpPr>
              <a:cxnSpLocks/>
            </p:cNvCxnSpPr>
            <p:nvPr/>
          </p:nvCxnSpPr>
          <p:spPr>
            <a:xfrm>
              <a:off x="3126934" y="1430224"/>
              <a:ext cx="370169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EEDDA10B-9296-4040-AA27-62B305AB5683}"/>
                </a:ext>
              </a:extLst>
            </p:cNvPr>
            <p:cNvCxnSpPr>
              <a:cxnSpLocks/>
            </p:cNvCxnSpPr>
            <p:nvPr/>
          </p:nvCxnSpPr>
          <p:spPr>
            <a:xfrm>
              <a:off x="6822991" y="1430225"/>
              <a:ext cx="30024" cy="473508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35838807-975D-48C8-AE4D-3E6D65D69CDE}"/>
                </a:ext>
              </a:extLst>
            </p:cNvPr>
            <p:cNvCxnSpPr>
              <a:cxnSpLocks/>
            </p:cNvCxnSpPr>
            <p:nvPr/>
          </p:nvCxnSpPr>
          <p:spPr>
            <a:xfrm flipH="1">
              <a:off x="875732" y="6165304"/>
              <a:ext cx="598488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02FF77D9-0089-4D52-A756-433917D22123}"/>
                </a:ext>
              </a:extLst>
            </p:cNvPr>
            <p:cNvCxnSpPr/>
            <p:nvPr/>
          </p:nvCxnSpPr>
          <p:spPr>
            <a:xfrm flipV="1">
              <a:off x="897783" y="3964979"/>
              <a:ext cx="0" cy="220032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CAF8D775-33DF-487F-80A5-9C0DB3CB67B7}"/>
                </a:ext>
              </a:extLst>
            </p:cNvPr>
            <p:cNvCxnSpPr>
              <a:cxnSpLocks/>
            </p:cNvCxnSpPr>
            <p:nvPr/>
          </p:nvCxnSpPr>
          <p:spPr>
            <a:xfrm>
              <a:off x="907313" y="3962275"/>
              <a:ext cx="2219621" cy="270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72" name="テキスト ボックス 71">
            <a:extLst>
              <a:ext uri="{FF2B5EF4-FFF2-40B4-BE49-F238E27FC236}">
                <a16:creationId xmlns:a16="http://schemas.microsoft.com/office/drawing/2014/main" id="{290EF41A-2904-4430-9196-E8B883FAB439}"/>
              </a:ext>
            </a:extLst>
          </p:cNvPr>
          <p:cNvSpPr txBox="1"/>
          <p:nvPr/>
        </p:nvSpPr>
        <p:spPr>
          <a:xfrm>
            <a:off x="3706217" y="6322383"/>
            <a:ext cx="1824949" cy="230832"/>
          </a:xfrm>
          <a:prstGeom prst="rect">
            <a:avLst/>
          </a:prstGeom>
          <a:noFill/>
        </p:spPr>
        <p:txBody>
          <a:bodyPr wrap="square" rtlCol="0">
            <a:spAutoFit/>
          </a:bodyPr>
          <a:lstStyle/>
          <a:p>
            <a:r>
              <a:rPr lang="ja-JP" altLang="en-US" sz="900" dirty="0">
                <a:solidFill>
                  <a:srgbClr val="FF0000"/>
                </a:solidFill>
              </a:rPr>
              <a:t>赤枠：</a:t>
            </a:r>
            <a:r>
              <a:rPr lang="en-US" altLang="ja-JP" sz="900" dirty="0">
                <a:solidFill>
                  <a:srgbClr val="FF0000"/>
                </a:solidFill>
              </a:rPr>
              <a:t>TDSE</a:t>
            </a:r>
            <a:r>
              <a:rPr lang="ja-JP" altLang="en-US" sz="900" dirty="0">
                <a:solidFill>
                  <a:srgbClr val="FF0000"/>
                </a:solidFill>
              </a:rPr>
              <a:t>構築</a:t>
            </a:r>
            <a:r>
              <a:rPr lang="en-US" altLang="ja-JP" sz="900" dirty="0">
                <a:solidFill>
                  <a:srgbClr val="FF0000"/>
                </a:solidFill>
              </a:rPr>
              <a:t>/</a:t>
            </a:r>
            <a:r>
              <a:rPr lang="ja-JP" altLang="en-US" sz="900" dirty="0">
                <a:solidFill>
                  <a:srgbClr val="FF0000"/>
                </a:solidFill>
              </a:rPr>
              <a:t>開発範囲</a:t>
            </a:r>
            <a:endParaRPr lang="en-US" altLang="ja-JP" sz="900" dirty="0">
              <a:solidFill>
                <a:srgbClr val="FF0000"/>
              </a:solidFill>
            </a:endParaRPr>
          </a:p>
        </p:txBody>
      </p:sp>
      <p:sp>
        <p:nvSpPr>
          <p:cNvPr id="73" name="正方形/長方形 72">
            <a:extLst>
              <a:ext uri="{FF2B5EF4-FFF2-40B4-BE49-F238E27FC236}">
                <a16:creationId xmlns:a16="http://schemas.microsoft.com/office/drawing/2014/main" id="{087A9F6B-23A5-4FCA-B0F2-2EA9D286B15D}"/>
              </a:ext>
            </a:extLst>
          </p:cNvPr>
          <p:cNvSpPr/>
          <p:nvPr/>
        </p:nvSpPr>
        <p:spPr>
          <a:xfrm rot="5400000">
            <a:off x="5779346" y="5218743"/>
            <a:ext cx="1395377" cy="523879"/>
          </a:xfrm>
          <a:prstGeom prst="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rPr>
              <a:t>結果取得</a:t>
            </a:r>
            <a:endParaRPr lang="en-US" altLang="ja-JP" sz="1200" dirty="0">
              <a:solidFill>
                <a:schemeClr val="tx1"/>
              </a:solidFill>
            </a:endParaRPr>
          </a:p>
          <a:p>
            <a:pPr algn="ctr"/>
            <a:r>
              <a:rPr lang="en-US" altLang="ja-JP" sz="1200" dirty="0">
                <a:solidFill>
                  <a:schemeClr val="tx1"/>
                </a:solidFill>
              </a:rPr>
              <a:t>(WEBAPI)</a:t>
            </a:r>
            <a:endParaRPr lang="ja-JP" altLang="en-US" sz="1200" dirty="0">
              <a:solidFill>
                <a:schemeClr val="tx1"/>
              </a:solidFill>
            </a:endParaRPr>
          </a:p>
        </p:txBody>
      </p:sp>
      <p:sp>
        <p:nvSpPr>
          <p:cNvPr id="74" name="テキスト ボックス 73">
            <a:extLst>
              <a:ext uri="{FF2B5EF4-FFF2-40B4-BE49-F238E27FC236}">
                <a16:creationId xmlns:a16="http://schemas.microsoft.com/office/drawing/2014/main" id="{5D228258-1FBE-432D-8089-51196B34B9CD}"/>
              </a:ext>
            </a:extLst>
          </p:cNvPr>
          <p:cNvSpPr txBox="1"/>
          <p:nvPr/>
        </p:nvSpPr>
        <p:spPr>
          <a:xfrm>
            <a:off x="6716687" y="5521864"/>
            <a:ext cx="1013969" cy="230832"/>
          </a:xfrm>
          <a:prstGeom prst="rect">
            <a:avLst/>
          </a:prstGeom>
          <a:noFill/>
        </p:spPr>
        <p:txBody>
          <a:bodyPr wrap="square" rtlCol="0">
            <a:spAutoFit/>
          </a:bodyPr>
          <a:lstStyle/>
          <a:p>
            <a:r>
              <a:rPr lang="ja-JP" altLang="en-US" sz="900" dirty="0"/>
              <a:t>結果取得</a:t>
            </a:r>
          </a:p>
        </p:txBody>
      </p:sp>
      <p:cxnSp>
        <p:nvCxnSpPr>
          <p:cNvPr id="75" name="直線矢印コネクタ 74">
            <a:extLst>
              <a:ext uri="{FF2B5EF4-FFF2-40B4-BE49-F238E27FC236}">
                <a16:creationId xmlns:a16="http://schemas.microsoft.com/office/drawing/2014/main" id="{BB6D9149-EC1D-4269-8C97-D09AC4B3AB52}"/>
              </a:ext>
            </a:extLst>
          </p:cNvPr>
          <p:cNvCxnSpPr>
            <a:cxnSpLocks/>
          </p:cNvCxnSpPr>
          <p:nvPr/>
        </p:nvCxnSpPr>
        <p:spPr>
          <a:xfrm flipH="1">
            <a:off x="6726308" y="5495600"/>
            <a:ext cx="855344" cy="0"/>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pic>
        <p:nvPicPr>
          <p:cNvPr id="76" name="図 75">
            <a:extLst>
              <a:ext uri="{FF2B5EF4-FFF2-40B4-BE49-F238E27FC236}">
                <a16:creationId xmlns:a16="http://schemas.microsoft.com/office/drawing/2014/main" id="{92EE51A2-4441-44A7-81DB-AA326E8ADD8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54" y="4863890"/>
            <a:ext cx="234087" cy="234087"/>
          </a:xfrm>
          <a:prstGeom prst="rect">
            <a:avLst/>
          </a:prstGeom>
        </p:spPr>
      </p:pic>
      <p:cxnSp>
        <p:nvCxnSpPr>
          <p:cNvPr id="77" name="直線コネクタ 76">
            <a:extLst>
              <a:ext uri="{FF2B5EF4-FFF2-40B4-BE49-F238E27FC236}">
                <a16:creationId xmlns:a16="http://schemas.microsoft.com/office/drawing/2014/main" id="{1C519720-7ED3-44B1-A805-4A0DE92F8D04}"/>
              </a:ext>
            </a:extLst>
          </p:cNvPr>
          <p:cNvCxnSpPr>
            <a:cxnSpLocks/>
          </p:cNvCxnSpPr>
          <p:nvPr/>
        </p:nvCxnSpPr>
        <p:spPr>
          <a:xfrm>
            <a:off x="1268440" y="2830253"/>
            <a:ext cx="2219621" cy="2754"/>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9B2C3DA1-F99B-4F57-BE75-14A2E802E544}"/>
              </a:ext>
            </a:extLst>
          </p:cNvPr>
          <p:cNvCxnSpPr>
            <a:cxnSpLocks/>
          </p:cNvCxnSpPr>
          <p:nvPr/>
        </p:nvCxnSpPr>
        <p:spPr>
          <a:xfrm flipV="1">
            <a:off x="1268439" y="2821052"/>
            <a:ext cx="0" cy="1200923"/>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120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1" y="365126"/>
            <a:ext cx="8005354" cy="692966"/>
          </a:xfrm>
        </p:spPr>
        <p:txBody>
          <a:bodyPr>
            <a:normAutofit/>
          </a:bodyPr>
          <a:lstStyle/>
          <a:p>
            <a:r>
              <a:rPr lang="ja-JP" altLang="en-US" sz="3200" b="1" dirty="0" smtClean="0"/>
              <a:t>機能一覧</a:t>
            </a:r>
            <a:endParaRPr kumimoji="1" lang="ja-JP" altLang="en-US" sz="3200" b="1" dirty="0"/>
          </a:p>
        </p:txBody>
      </p:sp>
      <p:graphicFrame>
        <p:nvGraphicFramePr>
          <p:cNvPr id="8" name="表 7">
            <a:extLst>
              <a:ext uri="{FF2B5EF4-FFF2-40B4-BE49-F238E27FC236}">
                <a16:creationId xmlns:a16="http://schemas.microsoft.com/office/drawing/2014/main" id="{4EF0BF56-A28E-4037-9549-F1B7FA069D99}"/>
              </a:ext>
            </a:extLst>
          </p:cNvPr>
          <p:cNvGraphicFramePr>
            <a:graphicFrameLocks noGrp="1"/>
          </p:cNvGraphicFramePr>
          <p:nvPr>
            <p:extLst>
              <p:ext uri="{D42A27DB-BD31-4B8C-83A1-F6EECF244321}">
                <p14:modId xmlns:p14="http://schemas.microsoft.com/office/powerpoint/2010/main" val="1465460202"/>
              </p:ext>
            </p:extLst>
          </p:nvPr>
        </p:nvGraphicFramePr>
        <p:xfrm>
          <a:off x="838201" y="1194410"/>
          <a:ext cx="8308355" cy="4278926"/>
        </p:xfrm>
        <a:graphic>
          <a:graphicData uri="http://schemas.openxmlformats.org/drawingml/2006/table">
            <a:tbl>
              <a:tblPr firstRow="1" bandRow="1">
                <a:tableStyleId>{5C22544A-7EE6-4342-B048-85BDC9FD1C3A}</a:tableStyleId>
              </a:tblPr>
              <a:tblGrid>
                <a:gridCol w="2812853">
                  <a:extLst>
                    <a:ext uri="{9D8B030D-6E8A-4147-A177-3AD203B41FA5}">
                      <a16:colId xmlns:a16="http://schemas.microsoft.com/office/drawing/2014/main" val="3420652459"/>
                    </a:ext>
                  </a:extLst>
                </a:gridCol>
                <a:gridCol w="5495502">
                  <a:extLst>
                    <a:ext uri="{9D8B030D-6E8A-4147-A177-3AD203B41FA5}">
                      <a16:colId xmlns:a16="http://schemas.microsoft.com/office/drawing/2014/main" val="2449036440"/>
                    </a:ext>
                  </a:extLst>
                </a:gridCol>
              </a:tblGrid>
              <a:tr h="526748">
                <a:tc>
                  <a:txBody>
                    <a:bodyPr/>
                    <a:lstStyle/>
                    <a:p>
                      <a:r>
                        <a:rPr kumimoji="1" lang="ja-JP" altLang="en-US" sz="1600" dirty="0">
                          <a:latin typeface="Meiryo UI" panose="020B0604030504040204" pitchFamily="50" charset="-128"/>
                          <a:ea typeface="Meiryo UI" panose="020B0604030504040204" pitchFamily="50" charset="-128"/>
                        </a:rPr>
                        <a:t>機能名</a:t>
                      </a:r>
                    </a:p>
                  </a:txBody>
                  <a:tcPr/>
                </a:tc>
                <a:tc>
                  <a:txBody>
                    <a:bodyPr/>
                    <a:lstStyle/>
                    <a:p>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692004445"/>
                  </a:ext>
                </a:extLst>
              </a:tr>
              <a:tr h="526748">
                <a:tc>
                  <a:txBody>
                    <a:bodyPr/>
                    <a:lstStyle/>
                    <a:p>
                      <a:r>
                        <a:rPr kumimoji="1" lang="ja-JP" altLang="en-US" sz="1600" dirty="0">
                          <a:latin typeface="Meiryo UI" panose="020B0604030504040204" pitchFamily="50" charset="-128"/>
                          <a:ea typeface="Meiryo UI" panose="020B0604030504040204" pitchFamily="50" charset="-128"/>
                        </a:rPr>
                        <a:t>前処理</a:t>
                      </a:r>
                    </a:p>
                  </a:txBody>
                  <a:tcPr/>
                </a:tc>
                <a:tc>
                  <a:txBody>
                    <a:bodyPr/>
                    <a:lstStyle/>
                    <a:p>
                      <a:r>
                        <a:rPr kumimoji="1" lang="ja-JP" altLang="en-US" sz="1600" dirty="0">
                          <a:latin typeface="Meiryo UI" panose="020B0604030504040204" pitchFamily="50" charset="-128"/>
                          <a:ea typeface="Meiryo UI" panose="020B0604030504040204" pitchFamily="50" charset="-128"/>
                        </a:rPr>
                        <a:t>分析対象の生データを分析ジョブで利用する形式に変換する</a:t>
                      </a:r>
                    </a:p>
                  </a:txBody>
                  <a:tcPr/>
                </a:tc>
                <a:extLst>
                  <a:ext uri="{0D108BD9-81ED-4DB2-BD59-A6C34878D82A}">
                    <a16:rowId xmlns:a16="http://schemas.microsoft.com/office/drawing/2014/main" val="3935717739"/>
                  </a:ext>
                </a:extLst>
              </a:tr>
              <a:tr h="822593">
                <a:tc>
                  <a:txBody>
                    <a:bodyPr/>
                    <a:lstStyle/>
                    <a:p>
                      <a:r>
                        <a:rPr kumimoji="1" lang="en-US" altLang="ja-JP" sz="1600" dirty="0">
                          <a:latin typeface="Meiryo UI" panose="020B0604030504040204" pitchFamily="50" charset="-128"/>
                          <a:ea typeface="Meiryo UI" panose="020B0604030504040204" pitchFamily="50" charset="-128"/>
                        </a:rPr>
                        <a:t>UI(WEB</a:t>
                      </a:r>
                      <a:r>
                        <a:rPr kumimoji="1" lang="ja-JP" altLang="en-US" sz="1600" dirty="0">
                          <a:latin typeface="Meiryo UI" panose="020B0604030504040204" pitchFamily="50" charset="-128"/>
                          <a:ea typeface="Meiryo UI" panose="020B0604030504040204" pitchFamily="50" charset="-128"/>
                        </a:rPr>
                        <a:t>アプリ</a:t>
                      </a:r>
                      <a:r>
                        <a:rPr kumimoji="1" lang="en-US" altLang="ja-JP" sz="1600" dirty="0">
                          <a:latin typeface="Meiryo UI" panose="020B0604030504040204" pitchFamily="50" charset="-128"/>
                          <a:ea typeface="Meiryo UI" panose="020B0604030504040204" pitchFamily="50" charset="-128"/>
                        </a:rPr>
                        <a:t>)</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r>
                        <a:rPr kumimoji="1" lang="ja-JP" altLang="en-US" sz="1600" dirty="0">
                          <a:latin typeface="Meiryo UI" panose="020B0604030504040204" pitchFamily="50" charset="-128"/>
                          <a:ea typeface="Meiryo UI" panose="020B0604030504040204" pitchFamily="50" charset="-128"/>
                        </a:rPr>
                        <a:t>分析者、閲覧者が使用する。</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分析ジョブの作成、分析結果の表示を行う</a:t>
                      </a:r>
                    </a:p>
                  </a:txBody>
                  <a:tcPr/>
                </a:tc>
                <a:extLst>
                  <a:ext uri="{0D108BD9-81ED-4DB2-BD59-A6C34878D82A}">
                    <a16:rowId xmlns:a16="http://schemas.microsoft.com/office/drawing/2014/main" val="352630444"/>
                  </a:ext>
                </a:extLst>
              </a:tr>
              <a:tr h="526748">
                <a:tc>
                  <a:txBody>
                    <a:bodyPr/>
                    <a:lstStyle/>
                    <a:p>
                      <a:r>
                        <a:rPr kumimoji="1" lang="ja-JP" altLang="en-US" sz="1600" dirty="0">
                          <a:latin typeface="Meiryo UI" panose="020B0604030504040204" pitchFamily="50" charset="-128"/>
                          <a:ea typeface="Meiryo UI" panose="020B0604030504040204" pitchFamily="50" charset="-128"/>
                        </a:rPr>
                        <a:t>ジョブ管理</a:t>
                      </a:r>
                    </a:p>
                  </a:txBody>
                  <a:tcPr/>
                </a:tc>
                <a:tc>
                  <a:txBody>
                    <a:bodyPr/>
                    <a:lstStyle/>
                    <a:p>
                      <a:r>
                        <a:rPr kumimoji="1" lang="ja-JP" altLang="en-US" sz="1600" dirty="0">
                          <a:latin typeface="Meiryo UI" panose="020B0604030504040204" pitchFamily="50" charset="-128"/>
                          <a:ea typeface="Meiryo UI" panose="020B0604030504040204" pitchFamily="50" charset="-128"/>
                        </a:rPr>
                        <a:t>分析ジョブの管理を管理する</a:t>
                      </a:r>
                    </a:p>
                  </a:txBody>
                  <a:tcPr/>
                </a:tc>
                <a:extLst>
                  <a:ext uri="{0D108BD9-81ED-4DB2-BD59-A6C34878D82A}">
                    <a16:rowId xmlns:a16="http://schemas.microsoft.com/office/drawing/2014/main" val="2557521920"/>
                  </a:ext>
                </a:extLst>
              </a:tr>
              <a:tr h="822593">
                <a:tc>
                  <a:txBody>
                    <a:bodyPr/>
                    <a:lstStyle/>
                    <a:p>
                      <a:r>
                        <a:rPr kumimoji="1" lang="ja-JP" altLang="en-US" sz="1600" dirty="0">
                          <a:latin typeface="Meiryo UI" panose="020B0604030504040204" pitchFamily="50" charset="-128"/>
                          <a:ea typeface="Meiryo UI" panose="020B0604030504040204" pitchFamily="50" charset="-128"/>
                        </a:rPr>
                        <a:t>分析処理</a:t>
                      </a:r>
                    </a:p>
                  </a:txBody>
                  <a:tcPr/>
                </a:tc>
                <a:tc>
                  <a:txBody>
                    <a:bodyPr/>
                    <a:lstStyle/>
                    <a:p>
                      <a:r>
                        <a:rPr kumimoji="1" lang="ja-JP" altLang="en-US" sz="1600" dirty="0">
                          <a:latin typeface="Meiryo UI" panose="020B0604030504040204" pitchFamily="50" charset="-128"/>
                          <a:ea typeface="Meiryo UI" panose="020B0604030504040204" pitchFamily="50" charset="-128"/>
                        </a:rPr>
                        <a:t>相関係数の計算を行う</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分析結果は</a:t>
                      </a:r>
                      <a:r>
                        <a:rPr kumimoji="1" lang="en-US" altLang="ja-JP" sz="1600" dirty="0">
                          <a:latin typeface="Meiryo UI" panose="020B0604030504040204" pitchFamily="50" charset="-128"/>
                          <a:ea typeface="Meiryo UI" panose="020B0604030504040204" pitchFamily="50" charset="-128"/>
                        </a:rPr>
                        <a:t>CSV</a:t>
                      </a:r>
                      <a:r>
                        <a:rPr kumimoji="1" lang="ja-JP" altLang="en-US" sz="1600" dirty="0">
                          <a:latin typeface="Meiryo UI" panose="020B0604030504040204" pitchFamily="50" charset="-128"/>
                          <a:ea typeface="Meiryo UI" panose="020B0604030504040204" pitchFamily="50" charset="-128"/>
                        </a:rPr>
                        <a:t>ファイルとして出力する</a:t>
                      </a:r>
                    </a:p>
                  </a:txBody>
                  <a:tcPr/>
                </a:tc>
                <a:extLst>
                  <a:ext uri="{0D108BD9-81ED-4DB2-BD59-A6C34878D82A}">
                    <a16:rowId xmlns:a16="http://schemas.microsoft.com/office/drawing/2014/main" val="2751977681"/>
                  </a:ext>
                </a:extLst>
              </a:tr>
              <a:tr h="526748">
                <a:tc>
                  <a:txBody>
                    <a:bodyPr/>
                    <a:lstStyle/>
                    <a:p>
                      <a:r>
                        <a:rPr kumimoji="1" lang="ja-JP" altLang="en-US" sz="1600" dirty="0">
                          <a:latin typeface="Meiryo UI" panose="020B0604030504040204" pitchFamily="50" charset="-128"/>
                          <a:ea typeface="Meiryo UI" panose="020B0604030504040204" pitchFamily="50" charset="-128"/>
                        </a:rPr>
                        <a:t>受付</a:t>
                      </a:r>
                      <a:r>
                        <a:rPr kumimoji="1" lang="en-US" altLang="ja-JP" sz="1600" dirty="0">
                          <a:latin typeface="Meiryo UI" panose="020B0604030504040204" pitchFamily="50" charset="-128"/>
                          <a:ea typeface="Meiryo UI" panose="020B0604030504040204" pitchFamily="50" charset="-128"/>
                        </a:rPr>
                        <a:t>(WEBAPI)</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r>
                        <a:rPr kumimoji="1" lang="ja-JP" altLang="en-US" sz="1600" dirty="0">
                          <a:latin typeface="Meiryo UI" panose="020B0604030504040204" pitchFamily="50" charset="-128"/>
                          <a:ea typeface="Meiryo UI" panose="020B0604030504040204" pitchFamily="50" charset="-128"/>
                        </a:rPr>
                        <a:t>分析ジョブのリクエストを受け付ける</a:t>
                      </a:r>
                    </a:p>
                  </a:txBody>
                  <a:tcPr/>
                </a:tc>
                <a:extLst>
                  <a:ext uri="{0D108BD9-81ED-4DB2-BD59-A6C34878D82A}">
                    <a16:rowId xmlns:a16="http://schemas.microsoft.com/office/drawing/2014/main" val="1109426796"/>
                  </a:ext>
                </a:extLst>
              </a:tr>
              <a:tr h="526748">
                <a:tc>
                  <a:txBody>
                    <a:bodyPr/>
                    <a:lstStyle/>
                    <a:p>
                      <a:r>
                        <a:rPr kumimoji="1" lang="ja-JP" altLang="en-US" sz="1600" dirty="0">
                          <a:latin typeface="Meiryo UI" panose="020B0604030504040204" pitchFamily="50" charset="-128"/>
                          <a:ea typeface="Meiryo UI" panose="020B0604030504040204" pitchFamily="50" charset="-128"/>
                        </a:rPr>
                        <a:t>結果取得</a:t>
                      </a:r>
                      <a:r>
                        <a:rPr kumimoji="1" lang="en-US" altLang="ja-JP" sz="1600" dirty="0">
                          <a:latin typeface="Meiryo UI" panose="020B0604030504040204" pitchFamily="50" charset="-128"/>
                          <a:ea typeface="Meiryo UI" panose="020B0604030504040204" pitchFamily="50" charset="-128"/>
                        </a:rPr>
                        <a:t>(WEBAPI)</a:t>
                      </a:r>
                      <a:endParaRPr kumimoji="1" lang="ja-JP" altLang="en-US" sz="1600" dirty="0">
                        <a:latin typeface="Meiryo UI" panose="020B0604030504040204" pitchFamily="50" charset="-128"/>
                        <a:ea typeface="Meiryo UI" panose="020B0604030504040204" pitchFamily="50" charset="-128"/>
                      </a:endParaRPr>
                    </a:p>
                  </a:txBody>
                  <a:tcPr/>
                </a:tc>
                <a:tc>
                  <a:txBody>
                    <a:bodyPr/>
                    <a:lstStyle/>
                    <a:p>
                      <a:r>
                        <a:rPr kumimoji="1" lang="ja-JP" altLang="en-US" sz="1600" dirty="0">
                          <a:latin typeface="Meiryo UI" panose="020B0604030504040204" pitchFamily="50" charset="-128"/>
                          <a:ea typeface="Meiryo UI" panose="020B0604030504040204" pitchFamily="50" charset="-128"/>
                        </a:rPr>
                        <a:t>分析結果を外部から取得するための</a:t>
                      </a:r>
                      <a:r>
                        <a:rPr kumimoji="1" lang="en-US" altLang="ja-JP" sz="1600" dirty="0">
                          <a:latin typeface="Meiryo UI" panose="020B0604030504040204" pitchFamily="50" charset="-128"/>
                          <a:ea typeface="Meiryo UI" panose="020B0604030504040204" pitchFamily="50" charset="-128"/>
                        </a:rPr>
                        <a:t>API</a:t>
                      </a:r>
                      <a:endParaRPr kumimoji="1" lang="ja-JP" altLang="en-US" sz="16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63386090"/>
                  </a:ext>
                </a:extLst>
              </a:tr>
            </a:tbl>
          </a:graphicData>
        </a:graphic>
      </p:graphicFrame>
    </p:spTree>
    <p:extLst>
      <p:ext uri="{BB962C8B-B14F-4D97-AF65-F5344CB8AC3E}">
        <p14:creationId xmlns:p14="http://schemas.microsoft.com/office/powerpoint/2010/main" val="2911517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1" y="365126"/>
            <a:ext cx="7940040" cy="692966"/>
          </a:xfrm>
        </p:spPr>
        <p:txBody>
          <a:bodyPr>
            <a:normAutofit/>
          </a:bodyPr>
          <a:lstStyle/>
          <a:p>
            <a:r>
              <a:rPr lang="ja-JP" altLang="en-US" sz="3200" b="1" dirty="0"/>
              <a:t>機能詳細</a:t>
            </a:r>
            <a:endParaRPr lang="en-US" altLang="ja-JP" sz="3200" b="1" dirty="0"/>
          </a:p>
        </p:txBody>
      </p:sp>
      <p:graphicFrame>
        <p:nvGraphicFramePr>
          <p:cNvPr id="4" name="表 3">
            <a:extLst>
              <a:ext uri="{FF2B5EF4-FFF2-40B4-BE49-F238E27FC236}">
                <a16:creationId xmlns:a16="http://schemas.microsoft.com/office/drawing/2014/main" id="{0BD29093-F3A7-4300-B38F-5399570D3D37}"/>
              </a:ext>
            </a:extLst>
          </p:cNvPr>
          <p:cNvGraphicFramePr>
            <a:graphicFrameLocks noGrp="1"/>
          </p:cNvGraphicFramePr>
          <p:nvPr>
            <p:extLst>
              <p:ext uri="{D42A27DB-BD31-4B8C-83A1-F6EECF244321}">
                <p14:modId xmlns:p14="http://schemas.microsoft.com/office/powerpoint/2010/main" val="3110618561"/>
              </p:ext>
            </p:extLst>
          </p:nvPr>
        </p:nvGraphicFramePr>
        <p:xfrm>
          <a:off x="991931" y="1242638"/>
          <a:ext cx="3854007" cy="4824533"/>
        </p:xfrm>
        <a:graphic>
          <a:graphicData uri="http://schemas.openxmlformats.org/drawingml/2006/table">
            <a:tbl>
              <a:tblPr>
                <a:tableStyleId>{5C22544A-7EE6-4342-B048-85BDC9FD1C3A}</a:tableStyleId>
              </a:tblPr>
              <a:tblGrid>
                <a:gridCol w="894404">
                  <a:extLst>
                    <a:ext uri="{9D8B030D-6E8A-4147-A177-3AD203B41FA5}">
                      <a16:colId xmlns:a16="http://schemas.microsoft.com/office/drawing/2014/main" val="3335709696"/>
                    </a:ext>
                  </a:extLst>
                </a:gridCol>
                <a:gridCol w="2959603">
                  <a:extLst>
                    <a:ext uri="{9D8B030D-6E8A-4147-A177-3AD203B41FA5}">
                      <a16:colId xmlns:a16="http://schemas.microsoft.com/office/drawing/2014/main" val="3245849225"/>
                    </a:ext>
                  </a:extLst>
                </a:gridCol>
              </a:tblGrid>
              <a:tr h="372776">
                <a:tc>
                  <a:txBody>
                    <a:bodyPr/>
                    <a:lstStyle/>
                    <a:p>
                      <a:pPr algn="ctr" fontAlgn="ctr"/>
                      <a:r>
                        <a:rPr lang="ja-JP" altLang="en-US" sz="900" u="none" strike="noStrike" dirty="0">
                          <a:effectLst/>
                        </a:rPr>
                        <a:t>システム</a:t>
                      </a:r>
                      <a:r>
                        <a:rPr lang="en-US" altLang="ja-JP" sz="900" u="none" strike="noStrike" dirty="0">
                          <a:effectLst/>
                        </a:rPr>
                        <a:t>(</a:t>
                      </a:r>
                      <a:r>
                        <a:rPr lang="en-US" sz="900" u="none" strike="noStrike" dirty="0">
                          <a:effectLst/>
                        </a:rPr>
                        <a:t>APP)</a:t>
                      </a:r>
                      <a:r>
                        <a:rPr lang="ja-JP" altLang="en-US" sz="900" u="none" strike="noStrike" dirty="0">
                          <a:effectLst/>
                        </a:rPr>
                        <a:t>名</a:t>
                      </a:r>
                      <a:endParaRPr lang="ja-JP" alt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fontAlgn="ctr"/>
                      <a:r>
                        <a:rPr lang="ja-JP" altLang="en-US" sz="900" u="none" strike="noStrike" dirty="0">
                          <a:effectLst/>
                        </a:rPr>
                        <a:t>機能名</a:t>
                      </a:r>
                      <a:endParaRPr lang="ja-JP" alt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88783233"/>
                  </a:ext>
                </a:extLst>
              </a:tr>
              <a:tr h="234303">
                <a:tc>
                  <a:txBody>
                    <a:bodyPr/>
                    <a:lstStyle/>
                    <a:p>
                      <a:pPr algn="ctr" fontAlgn="ctr"/>
                      <a:r>
                        <a:rPr lang="ja-JP" altLang="en-US" sz="900" u="none" strike="noStrike" dirty="0">
                          <a:effectLst/>
                        </a:rPr>
                        <a:t>前処理</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ファイル読み込み</a:t>
                      </a:r>
                      <a:r>
                        <a:rPr lang="en-US" altLang="ja-JP" sz="900" u="none" strike="noStrike" dirty="0">
                          <a:effectLst/>
                        </a:rPr>
                        <a:t>(From NAS)</a:t>
                      </a:r>
                      <a:endParaRPr lang="en-US" altLang="ja-JP"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9259696"/>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a:effectLst/>
                        </a:rPr>
                        <a:t>データチェック</a:t>
                      </a:r>
                      <a:r>
                        <a:rPr lang="en-US" altLang="ja-JP" sz="900" u="none" strike="noStrike">
                          <a:effectLst/>
                        </a:rPr>
                        <a:t>(</a:t>
                      </a:r>
                      <a:r>
                        <a:rPr lang="ja-JP" altLang="en-US" sz="900" u="none" strike="noStrike">
                          <a:effectLst/>
                        </a:rPr>
                        <a:t>整合性</a:t>
                      </a:r>
                      <a:r>
                        <a:rPr lang="en-US" altLang="ja-JP" sz="900" u="none" strike="noStrike">
                          <a:effectLst/>
                        </a:rPr>
                        <a:t>)</a:t>
                      </a:r>
                      <a:endParaRPr lang="en-US" altLang="ja-JP"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67817023"/>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データ定義変更</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7807193"/>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データ変換（時間補完処理等）</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2968078"/>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データ登録（</a:t>
                      </a:r>
                      <a:r>
                        <a:rPr lang="en-US" altLang="ja-JP" sz="900" u="none" strike="noStrike">
                          <a:effectLst/>
                        </a:rPr>
                        <a:t>CSV</a:t>
                      </a:r>
                      <a:r>
                        <a:rPr lang="ja-JP" altLang="en-US" sz="900" u="none" strike="noStrike">
                          <a:effectLst/>
                        </a:rPr>
                        <a:t>）</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2143662"/>
                  </a:ext>
                </a:extLst>
              </a:tr>
              <a:tr h="234303">
                <a:tc>
                  <a:txBody>
                    <a:bodyPr/>
                    <a:lstStyle/>
                    <a:p>
                      <a:pPr algn="ctr" fontAlgn="ctr"/>
                      <a:r>
                        <a:rPr lang="en-US" sz="900" u="none" strike="noStrike" dirty="0">
                          <a:effectLst/>
                        </a:rPr>
                        <a:t>UI(Web</a:t>
                      </a:r>
                      <a:r>
                        <a:rPr lang="ja-JP" altLang="en-US" sz="900" u="none" strike="noStrike" dirty="0">
                          <a:effectLst/>
                        </a:rPr>
                        <a:t>アプリ</a:t>
                      </a:r>
                      <a:r>
                        <a:rPr lang="en-US" altLang="ja-JP" sz="900" u="none" strike="noStrike" dirty="0">
                          <a:effectLst/>
                        </a:rPr>
                        <a:t>)</a:t>
                      </a:r>
                      <a:endParaRPr 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マスタデータ読み込み</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0940974"/>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バリデーションチェック</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6020527"/>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ジョブ登録（</a:t>
                      </a:r>
                      <a:r>
                        <a:rPr lang="en-US" altLang="ja-JP" sz="900" u="none" strike="noStrike" dirty="0">
                          <a:effectLst/>
                        </a:rPr>
                        <a:t>APP</a:t>
                      </a:r>
                      <a:r>
                        <a:rPr lang="ja-JP" altLang="en-US" sz="900" u="none" strike="noStrike" dirty="0">
                          <a:effectLst/>
                        </a:rPr>
                        <a:t>コントローラー</a:t>
                      </a:r>
                      <a:r>
                        <a:rPr lang="en-US" altLang="ja-JP" sz="900" u="none" strike="noStrike" dirty="0">
                          <a:effectLst/>
                        </a:rPr>
                        <a:t>API</a:t>
                      </a:r>
                      <a:r>
                        <a:rPr lang="ja-JP" altLang="en-US" sz="900" u="none" strike="noStrike" dirty="0">
                          <a:effectLst/>
                        </a:rPr>
                        <a:t>呼び出し）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68622011"/>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入力画面</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7592987"/>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900" u="none" strike="noStrike" dirty="0">
                          <a:effectLst/>
                        </a:rPr>
                        <a:t>入力画面（条件管理）</a:t>
                      </a:r>
                      <a:endParaRPr lang="zh-CN"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867644"/>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ジョブ一覧画面</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2927668"/>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ジョブ一覧画面（ジョブ実行条件）</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19681741"/>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ランキング画面（全体）</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2266672"/>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出力画面（項目ヒートマップ）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9184188"/>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出力画面（ラグヒートマップ）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943576"/>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出力画面（バーブルチャート）</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4853962"/>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900" u="none" strike="noStrike" dirty="0">
                          <a:effectLst/>
                        </a:rPr>
                        <a:t>出力画面（</a:t>
                      </a:r>
                      <a:r>
                        <a:rPr lang="en-US" altLang="zh-CN" sz="900" u="none" strike="noStrike" dirty="0">
                          <a:effectLst/>
                        </a:rPr>
                        <a:t>PDF</a:t>
                      </a:r>
                      <a:r>
                        <a:rPr lang="zh-CN" altLang="en-US" sz="900" u="none" strike="noStrike" dirty="0">
                          <a:effectLst/>
                        </a:rPr>
                        <a:t>出力）</a:t>
                      </a:r>
                      <a:endParaRPr lang="zh-CN"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4253534"/>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ja-JP" altLang="en-US" sz="900" u="none" strike="noStrike" dirty="0">
                          <a:effectLst/>
                        </a:rPr>
                        <a:t>出力画面（</a:t>
                      </a:r>
                      <a:r>
                        <a:rPr lang="en-US" sz="900" u="none" strike="noStrike" dirty="0">
                          <a:effectLst/>
                        </a:rPr>
                        <a:t>EXCEL</a:t>
                      </a:r>
                      <a:r>
                        <a:rPr lang="ja-JP" altLang="en-US" sz="900" u="none" strike="noStrike" dirty="0">
                          <a:effectLst/>
                        </a:rPr>
                        <a:t>出力）</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3619697"/>
                  </a:ext>
                </a:extLst>
              </a:tr>
              <a:tr h="234303">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900" u="none" strike="noStrike" dirty="0">
                          <a:effectLst/>
                        </a:rPr>
                        <a:t>出力画面（</a:t>
                      </a:r>
                      <a:r>
                        <a:rPr lang="en-US" altLang="zh-CN" sz="900" u="none" strike="noStrike" dirty="0">
                          <a:effectLst/>
                        </a:rPr>
                        <a:t>CSV</a:t>
                      </a:r>
                      <a:r>
                        <a:rPr lang="zh-CN" altLang="en-US" sz="900" u="none" strike="noStrike" dirty="0">
                          <a:effectLst/>
                        </a:rPr>
                        <a:t>出力）</a:t>
                      </a:r>
                      <a:endParaRPr lang="zh-CN"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5467688"/>
                  </a:ext>
                </a:extLst>
              </a:tr>
            </a:tbl>
          </a:graphicData>
        </a:graphic>
      </p:graphicFrame>
      <p:graphicFrame>
        <p:nvGraphicFramePr>
          <p:cNvPr id="5" name="表 4">
            <a:extLst>
              <a:ext uri="{FF2B5EF4-FFF2-40B4-BE49-F238E27FC236}">
                <a16:creationId xmlns:a16="http://schemas.microsoft.com/office/drawing/2014/main" id="{5A238769-D6FF-4E0F-A4F5-C655B3CEB546}"/>
              </a:ext>
            </a:extLst>
          </p:cNvPr>
          <p:cNvGraphicFramePr>
            <a:graphicFrameLocks noGrp="1"/>
          </p:cNvGraphicFramePr>
          <p:nvPr>
            <p:extLst>
              <p:ext uri="{D42A27DB-BD31-4B8C-83A1-F6EECF244321}">
                <p14:modId xmlns:p14="http://schemas.microsoft.com/office/powerpoint/2010/main" val="3841306391"/>
              </p:ext>
            </p:extLst>
          </p:nvPr>
        </p:nvGraphicFramePr>
        <p:xfrm>
          <a:off x="5061962" y="1242638"/>
          <a:ext cx="3851317" cy="4824537"/>
        </p:xfrm>
        <a:graphic>
          <a:graphicData uri="http://schemas.openxmlformats.org/drawingml/2006/table">
            <a:tbl>
              <a:tblPr>
                <a:tableStyleId>{5C22544A-7EE6-4342-B048-85BDC9FD1C3A}</a:tableStyleId>
              </a:tblPr>
              <a:tblGrid>
                <a:gridCol w="972191">
                  <a:extLst>
                    <a:ext uri="{9D8B030D-6E8A-4147-A177-3AD203B41FA5}">
                      <a16:colId xmlns:a16="http://schemas.microsoft.com/office/drawing/2014/main" val="2617564390"/>
                    </a:ext>
                  </a:extLst>
                </a:gridCol>
                <a:gridCol w="2879126">
                  <a:extLst>
                    <a:ext uri="{9D8B030D-6E8A-4147-A177-3AD203B41FA5}">
                      <a16:colId xmlns:a16="http://schemas.microsoft.com/office/drawing/2014/main" val="865202425"/>
                    </a:ext>
                  </a:extLst>
                </a:gridCol>
              </a:tblGrid>
              <a:tr h="351386">
                <a:tc>
                  <a:txBody>
                    <a:bodyPr/>
                    <a:lstStyle/>
                    <a:p>
                      <a:pPr algn="ctr" fontAlgn="ctr"/>
                      <a:r>
                        <a:rPr lang="ja-JP" altLang="en-US" sz="900" u="none" strike="noStrike" dirty="0">
                          <a:effectLst/>
                        </a:rPr>
                        <a:t>システム</a:t>
                      </a:r>
                      <a:r>
                        <a:rPr lang="en-US" altLang="ja-JP" sz="900" u="none" strike="noStrike" dirty="0">
                          <a:effectLst/>
                        </a:rPr>
                        <a:t>(</a:t>
                      </a:r>
                      <a:r>
                        <a:rPr lang="en-US" sz="900" u="none" strike="noStrike" dirty="0">
                          <a:effectLst/>
                        </a:rPr>
                        <a:t>APP)</a:t>
                      </a:r>
                      <a:r>
                        <a:rPr lang="ja-JP" altLang="en-US" sz="900" u="none" strike="noStrike" dirty="0">
                          <a:effectLst/>
                        </a:rPr>
                        <a:t>名</a:t>
                      </a:r>
                      <a:endParaRPr lang="ja-JP" alt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fontAlgn="ctr"/>
                      <a:r>
                        <a:rPr lang="ja-JP" altLang="en-US" sz="900" u="none" strike="noStrike" dirty="0">
                          <a:effectLst/>
                        </a:rPr>
                        <a:t>機能名</a:t>
                      </a:r>
                      <a:endParaRPr lang="ja-JP" altLang="en-US" sz="900" b="1"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58302248"/>
                  </a:ext>
                </a:extLst>
              </a:tr>
              <a:tr h="235429">
                <a:tc>
                  <a:txBody>
                    <a:bodyPr/>
                    <a:lstStyle/>
                    <a:p>
                      <a:pPr algn="ctr"/>
                      <a:r>
                        <a:rPr kumimoji="1" lang="ja-JP" altLang="en-US" sz="900" dirty="0"/>
                        <a:t>ジョブ管理</a:t>
                      </a: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dirty="0">
                          <a:effectLst/>
                        </a:rPr>
                        <a:t>ジョブ登録（</a:t>
                      </a:r>
                      <a:r>
                        <a:rPr lang="en-US" altLang="ja-JP" sz="900" u="none" strike="noStrike" dirty="0">
                          <a:effectLst/>
                        </a:rPr>
                        <a:t>DB</a:t>
                      </a:r>
                      <a:r>
                        <a:rPr lang="ja-JP" altLang="en-US" sz="900" u="none" strike="noStrike" dirty="0">
                          <a:effectLst/>
                        </a:rPr>
                        <a:t>）</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4449285"/>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900" u="none" strike="noStrike">
                          <a:effectLst/>
                        </a:rPr>
                        <a:t>GPU</a:t>
                      </a:r>
                      <a:r>
                        <a:rPr lang="ja-JP" altLang="en-US" sz="900" u="none" strike="noStrike">
                          <a:effectLst/>
                        </a:rPr>
                        <a:t>状況確認（</a:t>
                      </a:r>
                      <a:r>
                        <a:rPr lang="en-US" sz="900" u="none" strike="noStrike">
                          <a:effectLst/>
                        </a:rPr>
                        <a:t>NVIDIA TOOL）</a:t>
                      </a:r>
                      <a:endParaRPr 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7829041"/>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ジョブ実行状況確認（</a:t>
                      </a:r>
                      <a:r>
                        <a:rPr lang="en-US" altLang="ja-JP" sz="900" u="none" strike="noStrike">
                          <a:effectLst/>
                        </a:rPr>
                        <a:t>DB</a:t>
                      </a:r>
                      <a:r>
                        <a:rPr lang="ja-JP" altLang="en-US" sz="900" u="none" strike="noStrike">
                          <a:effectLst/>
                        </a:rPr>
                        <a:t>）</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6189147"/>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呼び出しアルゴリズム判断</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1032826"/>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ジョブ起動</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195586"/>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ログ登録（</a:t>
                      </a:r>
                      <a:r>
                        <a:rPr lang="en-US" altLang="ja-JP" sz="900" u="none" strike="noStrike">
                          <a:effectLst/>
                        </a:rPr>
                        <a:t>NAS</a:t>
                      </a:r>
                      <a:r>
                        <a:rPr lang="ja-JP" altLang="en-US" sz="900" u="none" strike="noStrike">
                          <a:effectLst/>
                        </a:rPr>
                        <a:t>）</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4456366"/>
                  </a:ext>
                </a:extLst>
              </a:tr>
              <a:tr h="235429">
                <a:tc>
                  <a:txBody>
                    <a:bodyPr/>
                    <a:lstStyle/>
                    <a:p>
                      <a:pPr algn="ctr" fontAlgn="ctr"/>
                      <a:r>
                        <a:rPr lang="ja-JP" altLang="en-US" sz="900" u="none" strike="noStrike" dirty="0">
                          <a:effectLst/>
                        </a:rPr>
                        <a:t>受付</a:t>
                      </a:r>
                      <a:r>
                        <a:rPr lang="en-US" altLang="ja-JP" sz="900" u="none" strike="noStrike" dirty="0">
                          <a:effectLst/>
                        </a:rPr>
                        <a:t>(</a:t>
                      </a:r>
                      <a:r>
                        <a:rPr lang="en-US" sz="900" u="none" strike="noStrike" dirty="0">
                          <a:effectLst/>
                        </a:rPr>
                        <a:t>WEBAPI)</a:t>
                      </a: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ジョブ登録</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6252544"/>
                  </a:ext>
                </a:extLst>
              </a:tr>
              <a:tr h="235429">
                <a:tc>
                  <a:txBody>
                    <a:bodyPr/>
                    <a:lstStyle/>
                    <a:p>
                      <a:pPr algn="ctr" fontAlgn="ct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ジョブ一覧取得</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166137"/>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ジョブ詳細取得</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8617713"/>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ジョブ編集</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8014553"/>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dirty="0">
                          <a:effectLst/>
                        </a:rPr>
                        <a:t>ファイル一覧取得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9879614"/>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zh-TW" altLang="en-US" sz="900" u="none" strike="noStrike" dirty="0">
                          <a:effectLst/>
                        </a:rPr>
                        <a:t>項目一覧取得</a:t>
                      </a:r>
                      <a:endParaRPr lang="zh-TW"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8842578"/>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a:effectLst/>
                        </a:rPr>
                        <a:t>ジョブ</a:t>
                      </a:r>
                      <a:r>
                        <a:rPr lang="en-US" altLang="ja-JP" sz="900" u="none" strike="noStrike">
                          <a:effectLst/>
                        </a:rPr>
                        <a:t>ID</a:t>
                      </a:r>
                      <a:r>
                        <a:rPr lang="ja-JP" altLang="en-US" sz="900" u="none" strike="noStrike">
                          <a:effectLst/>
                        </a:rPr>
                        <a:t>のログ取得</a:t>
                      </a:r>
                      <a:endParaRPr lang="ja-JP" altLang="en-US" sz="9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9030894"/>
                  </a:ext>
                </a:extLst>
              </a:tr>
              <a:tr h="235429">
                <a:tc>
                  <a:txBody>
                    <a:bodyPr/>
                    <a:lstStyle/>
                    <a:p>
                      <a:pPr algn="ctr" fontAlgn="ctr"/>
                      <a:r>
                        <a:rPr lang="ja-JP" altLang="en-US" sz="900" u="none" strike="noStrike" dirty="0">
                          <a:effectLst/>
                        </a:rPr>
                        <a:t>結果取得</a:t>
                      </a:r>
                      <a:r>
                        <a:rPr lang="en-US" altLang="ja-JP" sz="900" u="none" strike="noStrike" dirty="0">
                          <a:effectLst/>
                        </a:rPr>
                        <a:t>(</a:t>
                      </a:r>
                      <a:r>
                        <a:rPr lang="en-US" sz="900" u="none" strike="noStrike" dirty="0">
                          <a:effectLst/>
                        </a:rPr>
                        <a:t>WEBAPI)</a:t>
                      </a: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dirty="0">
                          <a:effectLst/>
                        </a:rPr>
                        <a:t>結果取得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1852985"/>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dirty="0">
                          <a:effectLst/>
                        </a:rPr>
                        <a:t>結果データ項目取得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7618545"/>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zh-TW" altLang="en-US" sz="900" u="none" strike="noStrike" dirty="0">
                          <a:effectLst/>
                        </a:rPr>
                        <a:t>結果詳細取得</a:t>
                      </a:r>
                      <a:endParaRPr lang="zh-TW"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400150"/>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dirty="0">
                          <a:effectLst/>
                        </a:rPr>
                        <a:t>ラグチャートデータ取得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950288"/>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dirty="0">
                          <a:effectLst/>
                        </a:rPr>
                        <a:t>バーブルチャートデータ取得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2944665"/>
                  </a:ext>
                </a:extLst>
              </a:tr>
              <a:tr h="235429">
                <a:tc>
                  <a:txBody>
                    <a:bodyPr/>
                    <a:lstStyle/>
                    <a:p>
                      <a:pPr algn="ctr" fontAlgn="ctr"/>
                      <a:r>
                        <a:rPr lang="ja-JP" altLang="en-US" sz="900" u="none" strike="noStrike" dirty="0">
                          <a:effectLst/>
                        </a:rPr>
                        <a:t>　</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ja-JP" altLang="en-US" sz="900" u="none" strike="noStrike" dirty="0">
                          <a:effectLst/>
                        </a:rPr>
                        <a:t>ヒートマップデータ取得</a:t>
                      </a: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052" marR="9052" marT="905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9869726"/>
                  </a:ext>
                </a:extLst>
              </a:tr>
            </a:tbl>
          </a:graphicData>
        </a:graphic>
      </p:graphicFrame>
    </p:spTree>
    <p:extLst>
      <p:ext uri="{BB962C8B-B14F-4D97-AF65-F5344CB8AC3E}">
        <p14:creationId xmlns:p14="http://schemas.microsoft.com/office/powerpoint/2010/main" val="387260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7953103" cy="692966"/>
          </a:xfrm>
        </p:spPr>
        <p:txBody>
          <a:bodyPr>
            <a:normAutofit/>
          </a:bodyPr>
          <a:lstStyle/>
          <a:p>
            <a:r>
              <a:rPr lang="ja-JP" altLang="en-US" sz="3200" b="1" dirty="0"/>
              <a:t>シーケンス</a:t>
            </a:r>
            <a:endParaRPr lang="en-US" altLang="ja-JP" sz="3200" b="1" dirty="0"/>
          </a:p>
        </p:txBody>
      </p:sp>
      <p:pic>
        <p:nvPicPr>
          <p:cNvPr id="6" name="図 5">
            <a:extLst>
              <a:ext uri="{FF2B5EF4-FFF2-40B4-BE49-F238E27FC236}">
                <a16:creationId xmlns:a16="http://schemas.microsoft.com/office/drawing/2014/main" id="{00000000-0008-0000-0200-0000020000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28436" y="1417156"/>
            <a:ext cx="663554" cy="663554"/>
          </a:xfrm>
          <a:prstGeom prst="rect">
            <a:avLst/>
          </a:prstGeom>
        </p:spPr>
      </p:pic>
      <p:grpSp>
        <p:nvGrpSpPr>
          <p:cNvPr id="7" name="グループ化 6">
            <a:extLst>
              <a:ext uri="{FF2B5EF4-FFF2-40B4-BE49-F238E27FC236}">
                <a16:creationId xmlns:a16="http://schemas.microsoft.com/office/drawing/2014/main" id="{00000000-0008-0000-0200-00008D000000}"/>
              </a:ext>
            </a:extLst>
          </p:cNvPr>
          <p:cNvGrpSpPr/>
          <p:nvPr/>
        </p:nvGrpSpPr>
        <p:grpSpPr>
          <a:xfrm>
            <a:off x="6375122" y="1288517"/>
            <a:ext cx="965678" cy="694893"/>
            <a:chOff x="-170478" y="-190227"/>
            <a:chExt cx="1446501" cy="919936"/>
          </a:xfrm>
        </p:grpSpPr>
        <p:sp>
          <p:nvSpPr>
            <p:cNvPr id="8" name="正方形/長方形 7">
              <a:extLst>
                <a:ext uri="{FF2B5EF4-FFF2-40B4-BE49-F238E27FC236}">
                  <a16:creationId xmlns:a16="http://schemas.microsoft.com/office/drawing/2014/main" id="{00000000-0008-0000-0200-00008B000000}"/>
                </a:ext>
              </a:extLst>
            </p:cNvPr>
            <p:cNvSpPr/>
            <p:nvPr/>
          </p:nvSpPr>
          <p:spPr>
            <a:xfrm>
              <a:off x="-170478" y="-190227"/>
              <a:ext cx="1446501" cy="195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ysClr val="windowText" lastClr="000000"/>
                  </a:solidFill>
                  <a:latin typeface="ＭＳ Ｐゴシック" panose="020B0600070205080204" pitchFamily="50" charset="-128"/>
                  <a:ea typeface="ＭＳ Ｐゴシック" panose="020B0600070205080204" pitchFamily="50" charset="-128"/>
                </a:rPr>
                <a:t>分析アルゴリズム</a:t>
              </a:r>
              <a:endParaRPr lang="en-US" altLang="ja-JP" sz="800" dirty="0">
                <a:solidFill>
                  <a:sysClr val="windowText" lastClr="000000"/>
                </a:solidFill>
                <a:latin typeface="ＭＳ Ｐゴシック" panose="020B0600070205080204" pitchFamily="50" charset="-128"/>
                <a:ea typeface="ＭＳ Ｐゴシック" panose="020B0600070205080204" pitchFamily="50" charset="-128"/>
              </a:endParaRPr>
            </a:p>
            <a:p>
              <a:pPr algn="ctr"/>
              <a:endParaRPr lang="ja-JP" altLang="en-US" sz="1050" dirty="0">
                <a:latin typeface="ＭＳ Ｐゴシック" panose="020B0600070205080204" pitchFamily="50" charset="-128"/>
                <a:ea typeface="ＭＳ Ｐゴシック" panose="020B0600070205080204" pitchFamily="50" charset="-128"/>
              </a:endParaRPr>
            </a:p>
          </p:txBody>
        </p:sp>
        <p:pic>
          <p:nvPicPr>
            <p:cNvPr id="9" name="図 8">
              <a:extLst>
                <a:ext uri="{FF2B5EF4-FFF2-40B4-BE49-F238E27FC236}">
                  <a16:creationId xmlns:a16="http://schemas.microsoft.com/office/drawing/2014/main" id="{00000000-0008-0000-0200-00008C0000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330" y="0"/>
              <a:ext cx="697963" cy="729709"/>
            </a:xfrm>
            <a:prstGeom prst="rect">
              <a:avLst/>
            </a:prstGeom>
          </p:spPr>
        </p:pic>
      </p:grpSp>
      <p:pic>
        <p:nvPicPr>
          <p:cNvPr id="10" name="図 9">
            <a:extLst>
              <a:ext uri="{FF2B5EF4-FFF2-40B4-BE49-F238E27FC236}">
                <a16:creationId xmlns:a16="http://schemas.microsoft.com/office/drawing/2014/main" id="{00000000-0008-0000-0200-00000E000000}"/>
              </a:ext>
            </a:extLst>
          </p:cNvPr>
          <p:cNvPicPr>
            <a:picLocks noChangeAspect="1"/>
          </p:cNvPicPr>
          <p:nvPr/>
        </p:nvPicPr>
        <p:blipFill>
          <a:blip r:embed="rId4"/>
          <a:stretch>
            <a:fillRect/>
          </a:stretch>
        </p:blipFill>
        <p:spPr>
          <a:xfrm>
            <a:off x="8183408" y="1420542"/>
            <a:ext cx="607895" cy="700108"/>
          </a:xfrm>
          <a:prstGeom prst="rect">
            <a:avLst/>
          </a:prstGeom>
        </p:spPr>
      </p:pic>
      <p:grpSp>
        <p:nvGrpSpPr>
          <p:cNvPr id="11" name="グループ化 10">
            <a:extLst>
              <a:ext uri="{FF2B5EF4-FFF2-40B4-BE49-F238E27FC236}">
                <a16:creationId xmlns:a16="http://schemas.microsoft.com/office/drawing/2014/main" id="{00000000-0008-0000-0200-00009A000000}"/>
              </a:ext>
            </a:extLst>
          </p:cNvPr>
          <p:cNvGrpSpPr/>
          <p:nvPr/>
        </p:nvGrpSpPr>
        <p:grpSpPr>
          <a:xfrm>
            <a:off x="5133322" y="1338088"/>
            <a:ext cx="463821" cy="635939"/>
            <a:chOff x="-902" y="-311051"/>
            <a:chExt cx="1030942" cy="1400700"/>
          </a:xfrm>
        </p:grpSpPr>
        <p:pic>
          <p:nvPicPr>
            <p:cNvPr id="12" name="図 11">
              <a:extLst>
                <a:ext uri="{FF2B5EF4-FFF2-40B4-BE49-F238E27FC236}">
                  <a16:creationId xmlns:a16="http://schemas.microsoft.com/office/drawing/2014/main" id="{00000000-0008-0000-0200-00009B000000}"/>
                </a:ext>
              </a:extLst>
            </p:cNvPr>
            <p:cNvPicPr>
              <a:picLocks noChangeAspect="1"/>
            </p:cNvPicPr>
            <p:nvPr/>
          </p:nvPicPr>
          <p:blipFill>
            <a:blip r:embed="rId5"/>
            <a:stretch>
              <a:fillRect/>
            </a:stretch>
          </p:blipFill>
          <p:spPr>
            <a:xfrm>
              <a:off x="33619" y="89649"/>
              <a:ext cx="961905" cy="1000000"/>
            </a:xfrm>
            <a:prstGeom prst="rect">
              <a:avLst/>
            </a:prstGeom>
          </p:spPr>
        </p:pic>
        <p:sp>
          <p:nvSpPr>
            <p:cNvPr id="13" name="テキスト ボックス 155">
              <a:extLst>
                <a:ext uri="{FF2B5EF4-FFF2-40B4-BE49-F238E27FC236}">
                  <a16:creationId xmlns:a16="http://schemas.microsoft.com/office/drawing/2014/main" id="{00000000-0008-0000-0200-00009C000000}"/>
                </a:ext>
              </a:extLst>
            </p:cNvPr>
            <p:cNvSpPr txBox="1"/>
            <p:nvPr/>
          </p:nvSpPr>
          <p:spPr>
            <a:xfrm>
              <a:off x="-902" y="-311051"/>
              <a:ext cx="1030942" cy="41461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ja-JP" sz="1050" dirty="0">
                  <a:latin typeface="ＭＳ Ｐゴシック" panose="020B0600070205080204" pitchFamily="50" charset="-128"/>
                  <a:ea typeface="ＭＳ Ｐゴシック" panose="020B0600070205080204" pitchFamily="50" charset="-128"/>
                </a:rPr>
                <a:t>NAS</a:t>
              </a:r>
            </a:p>
          </p:txBody>
        </p:sp>
      </p:grpSp>
      <p:pic>
        <p:nvPicPr>
          <p:cNvPr id="14" name="図 13">
            <a:extLst>
              <a:ext uri="{FF2B5EF4-FFF2-40B4-BE49-F238E27FC236}">
                <a16:creationId xmlns:a16="http://schemas.microsoft.com/office/drawing/2014/main" id="{00000000-0008-0000-0200-00001000000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02081" y="1483305"/>
            <a:ext cx="621557" cy="635018"/>
          </a:xfrm>
          <a:prstGeom prst="rect">
            <a:avLst/>
          </a:prstGeom>
        </p:spPr>
      </p:pic>
      <p:sp>
        <p:nvSpPr>
          <p:cNvPr id="15" name="メモ 108">
            <a:extLst>
              <a:ext uri="{FF2B5EF4-FFF2-40B4-BE49-F238E27FC236}">
                <a16:creationId xmlns:a16="http://schemas.microsoft.com/office/drawing/2014/main" id="{00000000-0008-0000-0200-00006D000000}"/>
              </a:ext>
            </a:extLst>
          </p:cNvPr>
          <p:cNvSpPr/>
          <p:nvPr/>
        </p:nvSpPr>
        <p:spPr>
          <a:xfrm>
            <a:off x="954524" y="1511551"/>
            <a:ext cx="463822" cy="512365"/>
          </a:xfrm>
          <a:prstGeom prst="foldedCorner">
            <a:avLst/>
          </a:prstGeom>
          <a:solidFill>
            <a:sysClr val="window" lastClr="FFFFFF"/>
          </a:solidFill>
          <a:ln>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050" dirty="0">
                <a:solidFill>
                  <a:sysClr val="windowText" lastClr="000000"/>
                </a:solidFill>
                <a:latin typeface="ＭＳ Ｐゴシック" panose="020B0600070205080204" pitchFamily="50" charset="-128"/>
                <a:ea typeface="ＭＳ Ｐゴシック" panose="020B0600070205080204" pitchFamily="50" charset="-128"/>
              </a:rPr>
              <a:t>UI</a:t>
            </a:r>
          </a:p>
        </p:txBody>
      </p:sp>
      <p:cxnSp>
        <p:nvCxnSpPr>
          <p:cNvPr id="16" name="直線コネクタ 15">
            <a:extLst>
              <a:ext uri="{FF2B5EF4-FFF2-40B4-BE49-F238E27FC236}">
                <a16:creationId xmlns:a16="http://schemas.microsoft.com/office/drawing/2014/main" id="{2124322A-18E2-43C2-A402-9EFD4B188293}"/>
              </a:ext>
            </a:extLst>
          </p:cNvPr>
          <p:cNvCxnSpPr>
            <a:cxnSpLocks/>
            <a:stCxn id="15" idx="2"/>
          </p:cNvCxnSpPr>
          <p:nvPr/>
        </p:nvCxnSpPr>
        <p:spPr>
          <a:xfrm>
            <a:off x="1186435" y="2023915"/>
            <a:ext cx="0" cy="4032448"/>
          </a:xfrm>
          <a:prstGeom prst="line">
            <a:avLst/>
          </a:prstGeom>
        </p:spPr>
        <p:style>
          <a:lnRef idx="3">
            <a:schemeClr val="dk1"/>
          </a:lnRef>
          <a:fillRef idx="0">
            <a:schemeClr val="dk1"/>
          </a:fillRef>
          <a:effectRef idx="2">
            <a:schemeClr val="dk1"/>
          </a:effectRef>
          <a:fontRef idx="minor">
            <a:schemeClr val="tx1"/>
          </a:fontRef>
        </p:style>
      </p:cxnSp>
      <p:cxnSp>
        <p:nvCxnSpPr>
          <p:cNvPr id="17" name="直線コネクタ 16">
            <a:extLst>
              <a:ext uri="{FF2B5EF4-FFF2-40B4-BE49-F238E27FC236}">
                <a16:creationId xmlns:a16="http://schemas.microsoft.com/office/drawing/2014/main" id="{41A7F342-EA3F-4A8A-A60F-5C9AEC0ED915}"/>
              </a:ext>
            </a:extLst>
          </p:cNvPr>
          <p:cNvCxnSpPr>
            <a:cxnSpLocks/>
            <a:stCxn id="6" idx="2"/>
          </p:cNvCxnSpPr>
          <p:nvPr/>
        </p:nvCxnSpPr>
        <p:spPr>
          <a:xfrm flipH="1">
            <a:off x="2547869" y="2080711"/>
            <a:ext cx="12345" cy="3975653"/>
          </a:xfrm>
          <a:prstGeom prst="line">
            <a:avLst/>
          </a:prstGeom>
        </p:spPr>
        <p:style>
          <a:lnRef idx="3">
            <a:schemeClr val="dk1"/>
          </a:lnRef>
          <a:fillRef idx="0">
            <a:schemeClr val="dk1"/>
          </a:fillRef>
          <a:effectRef idx="2">
            <a:schemeClr val="dk1"/>
          </a:effectRef>
          <a:fontRef idx="minor">
            <a:schemeClr val="tx1"/>
          </a:fontRef>
        </p:style>
      </p:cxnSp>
      <p:cxnSp>
        <p:nvCxnSpPr>
          <p:cNvPr id="18" name="直線コネクタ 17">
            <a:extLst>
              <a:ext uri="{FF2B5EF4-FFF2-40B4-BE49-F238E27FC236}">
                <a16:creationId xmlns:a16="http://schemas.microsoft.com/office/drawing/2014/main" id="{76169DA7-8CB5-4A34-A6FD-B96477ABF5FD}"/>
              </a:ext>
            </a:extLst>
          </p:cNvPr>
          <p:cNvCxnSpPr>
            <a:cxnSpLocks/>
            <a:stCxn id="14" idx="2"/>
          </p:cNvCxnSpPr>
          <p:nvPr/>
        </p:nvCxnSpPr>
        <p:spPr>
          <a:xfrm>
            <a:off x="4012859" y="2118323"/>
            <a:ext cx="0" cy="3938040"/>
          </a:xfrm>
          <a:prstGeom prst="line">
            <a:avLst/>
          </a:prstGeom>
        </p:spPr>
        <p:style>
          <a:lnRef idx="3">
            <a:schemeClr val="dk1"/>
          </a:lnRef>
          <a:fillRef idx="0">
            <a:schemeClr val="dk1"/>
          </a:fillRef>
          <a:effectRef idx="2">
            <a:schemeClr val="dk1"/>
          </a:effectRef>
          <a:fontRef idx="minor">
            <a:schemeClr val="tx1"/>
          </a:fontRef>
        </p:style>
      </p:cxnSp>
      <p:cxnSp>
        <p:nvCxnSpPr>
          <p:cNvPr id="19" name="直線コネクタ 18">
            <a:extLst>
              <a:ext uri="{FF2B5EF4-FFF2-40B4-BE49-F238E27FC236}">
                <a16:creationId xmlns:a16="http://schemas.microsoft.com/office/drawing/2014/main" id="{3DCC2B49-D3C1-478E-AC90-D9E837CAB458}"/>
              </a:ext>
            </a:extLst>
          </p:cNvPr>
          <p:cNvCxnSpPr>
            <a:cxnSpLocks/>
            <a:stCxn id="12" idx="2"/>
          </p:cNvCxnSpPr>
          <p:nvPr/>
        </p:nvCxnSpPr>
        <p:spPr>
          <a:xfrm>
            <a:off x="5365233" y="1974027"/>
            <a:ext cx="0" cy="4082337"/>
          </a:xfrm>
          <a:prstGeom prst="line">
            <a:avLst/>
          </a:prstGeom>
        </p:spPr>
        <p:style>
          <a:lnRef idx="3">
            <a:schemeClr val="dk1"/>
          </a:lnRef>
          <a:fillRef idx="0">
            <a:schemeClr val="dk1"/>
          </a:fillRef>
          <a:effectRef idx="2">
            <a:schemeClr val="dk1"/>
          </a:effectRef>
          <a:fontRef idx="minor">
            <a:schemeClr val="tx1"/>
          </a:fontRef>
        </p:style>
      </p:cxnSp>
      <p:cxnSp>
        <p:nvCxnSpPr>
          <p:cNvPr id="20" name="直線コネクタ 19">
            <a:extLst>
              <a:ext uri="{FF2B5EF4-FFF2-40B4-BE49-F238E27FC236}">
                <a16:creationId xmlns:a16="http://schemas.microsoft.com/office/drawing/2014/main" id="{ED704F04-ABF8-47EE-81C3-B9941BAC4294}"/>
              </a:ext>
            </a:extLst>
          </p:cNvPr>
          <p:cNvCxnSpPr>
            <a:cxnSpLocks/>
            <a:stCxn id="9" idx="2"/>
          </p:cNvCxnSpPr>
          <p:nvPr/>
        </p:nvCxnSpPr>
        <p:spPr>
          <a:xfrm>
            <a:off x="6884357" y="1983409"/>
            <a:ext cx="0" cy="4072954"/>
          </a:xfrm>
          <a:prstGeom prst="line">
            <a:avLst/>
          </a:prstGeom>
        </p:spPr>
        <p:style>
          <a:lnRef idx="3">
            <a:schemeClr val="dk1"/>
          </a:lnRef>
          <a:fillRef idx="0">
            <a:schemeClr val="dk1"/>
          </a:fillRef>
          <a:effectRef idx="2">
            <a:schemeClr val="dk1"/>
          </a:effectRef>
          <a:fontRef idx="minor">
            <a:schemeClr val="tx1"/>
          </a:fontRef>
        </p:style>
      </p:cxnSp>
      <p:cxnSp>
        <p:nvCxnSpPr>
          <p:cNvPr id="21" name="直線コネクタ 20">
            <a:extLst>
              <a:ext uri="{FF2B5EF4-FFF2-40B4-BE49-F238E27FC236}">
                <a16:creationId xmlns:a16="http://schemas.microsoft.com/office/drawing/2014/main" id="{D139457F-0141-4949-8239-2FDDEE0A7821}"/>
              </a:ext>
            </a:extLst>
          </p:cNvPr>
          <p:cNvCxnSpPr>
            <a:cxnSpLocks/>
            <a:stCxn id="10" idx="2"/>
          </p:cNvCxnSpPr>
          <p:nvPr/>
        </p:nvCxnSpPr>
        <p:spPr>
          <a:xfrm>
            <a:off x="8487355" y="2120651"/>
            <a:ext cx="0" cy="3935713"/>
          </a:xfrm>
          <a:prstGeom prst="line">
            <a:avLst/>
          </a:prstGeom>
        </p:spPr>
        <p:style>
          <a:lnRef idx="3">
            <a:schemeClr val="dk1"/>
          </a:lnRef>
          <a:fillRef idx="0">
            <a:schemeClr val="dk1"/>
          </a:fillRef>
          <a:effectRef idx="2">
            <a:schemeClr val="dk1"/>
          </a:effectRef>
          <a:fontRef idx="minor">
            <a:schemeClr val="tx1"/>
          </a:fontRef>
        </p:style>
      </p:cxnSp>
      <p:cxnSp>
        <p:nvCxnSpPr>
          <p:cNvPr id="22" name="直線矢印コネクタ 21">
            <a:extLst>
              <a:ext uri="{FF2B5EF4-FFF2-40B4-BE49-F238E27FC236}">
                <a16:creationId xmlns:a16="http://schemas.microsoft.com/office/drawing/2014/main" id="{4698BB5A-A890-4B97-9055-983F020253D3}"/>
              </a:ext>
            </a:extLst>
          </p:cNvPr>
          <p:cNvCxnSpPr>
            <a:cxnSpLocks/>
          </p:cNvCxnSpPr>
          <p:nvPr/>
        </p:nvCxnSpPr>
        <p:spPr>
          <a:xfrm>
            <a:off x="1274329" y="2455963"/>
            <a:ext cx="122413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3" name="直線矢印コネクタ 22">
            <a:extLst>
              <a:ext uri="{FF2B5EF4-FFF2-40B4-BE49-F238E27FC236}">
                <a16:creationId xmlns:a16="http://schemas.microsoft.com/office/drawing/2014/main" id="{EBE74024-CAE8-4819-9D32-2DB0F7C6E301}"/>
              </a:ext>
            </a:extLst>
          </p:cNvPr>
          <p:cNvCxnSpPr>
            <a:cxnSpLocks/>
          </p:cNvCxnSpPr>
          <p:nvPr/>
        </p:nvCxnSpPr>
        <p:spPr>
          <a:xfrm>
            <a:off x="2630383" y="2743995"/>
            <a:ext cx="1308243"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4" name="直線矢印コネクタ 23">
            <a:extLst>
              <a:ext uri="{FF2B5EF4-FFF2-40B4-BE49-F238E27FC236}">
                <a16:creationId xmlns:a16="http://schemas.microsoft.com/office/drawing/2014/main" id="{256D015B-6CDF-4F87-B8C7-3883D4E84E13}"/>
              </a:ext>
            </a:extLst>
          </p:cNvPr>
          <p:cNvCxnSpPr>
            <a:cxnSpLocks/>
          </p:cNvCxnSpPr>
          <p:nvPr/>
        </p:nvCxnSpPr>
        <p:spPr>
          <a:xfrm>
            <a:off x="2630382" y="3392067"/>
            <a:ext cx="417621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5" name="直線矢印コネクタ 24">
            <a:extLst>
              <a:ext uri="{FF2B5EF4-FFF2-40B4-BE49-F238E27FC236}">
                <a16:creationId xmlns:a16="http://schemas.microsoft.com/office/drawing/2014/main" id="{EDCEFEF9-E861-4C1C-B463-AD28573B3F31}"/>
              </a:ext>
            </a:extLst>
          </p:cNvPr>
          <p:cNvCxnSpPr>
            <a:cxnSpLocks/>
          </p:cNvCxnSpPr>
          <p:nvPr/>
        </p:nvCxnSpPr>
        <p:spPr>
          <a:xfrm>
            <a:off x="6991130" y="4231218"/>
            <a:ext cx="137377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6" name="直線矢印コネクタ 25">
            <a:extLst>
              <a:ext uri="{FF2B5EF4-FFF2-40B4-BE49-F238E27FC236}">
                <a16:creationId xmlns:a16="http://schemas.microsoft.com/office/drawing/2014/main" id="{064D6437-ED55-47C8-9C8E-80B9573CD68C}"/>
              </a:ext>
            </a:extLst>
          </p:cNvPr>
          <p:cNvCxnSpPr>
            <a:cxnSpLocks/>
          </p:cNvCxnSpPr>
          <p:nvPr/>
        </p:nvCxnSpPr>
        <p:spPr>
          <a:xfrm flipH="1">
            <a:off x="6994926" y="4865807"/>
            <a:ext cx="1373778"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7" name="直線矢印コネクタ 26">
            <a:extLst>
              <a:ext uri="{FF2B5EF4-FFF2-40B4-BE49-F238E27FC236}">
                <a16:creationId xmlns:a16="http://schemas.microsoft.com/office/drawing/2014/main" id="{91AA6675-04E0-4529-95EE-0037822CD6EE}"/>
              </a:ext>
            </a:extLst>
          </p:cNvPr>
          <p:cNvCxnSpPr>
            <a:cxnSpLocks/>
          </p:cNvCxnSpPr>
          <p:nvPr/>
        </p:nvCxnSpPr>
        <p:spPr>
          <a:xfrm flipH="1">
            <a:off x="2639806" y="5801910"/>
            <a:ext cx="4176218"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8" name="直線矢印コネクタ 27">
            <a:extLst>
              <a:ext uri="{FF2B5EF4-FFF2-40B4-BE49-F238E27FC236}">
                <a16:creationId xmlns:a16="http://schemas.microsoft.com/office/drawing/2014/main" id="{77F32E79-A75E-415C-A754-51C95C3E152E}"/>
              </a:ext>
            </a:extLst>
          </p:cNvPr>
          <p:cNvCxnSpPr>
            <a:cxnSpLocks/>
          </p:cNvCxnSpPr>
          <p:nvPr/>
        </p:nvCxnSpPr>
        <p:spPr>
          <a:xfrm flipH="1">
            <a:off x="5433566" y="5204051"/>
            <a:ext cx="1382459"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9" name="直線矢印コネクタ 28">
            <a:extLst>
              <a:ext uri="{FF2B5EF4-FFF2-40B4-BE49-F238E27FC236}">
                <a16:creationId xmlns:a16="http://schemas.microsoft.com/office/drawing/2014/main" id="{3E26FCB5-A24B-4446-809E-D38FC22E5A99}"/>
              </a:ext>
            </a:extLst>
          </p:cNvPr>
          <p:cNvCxnSpPr>
            <a:cxnSpLocks/>
          </p:cNvCxnSpPr>
          <p:nvPr/>
        </p:nvCxnSpPr>
        <p:spPr>
          <a:xfrm flipH="1">
            <a:off x="5424140" y="3896123"/>
            <a:ext cx="138246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0" name="テキスト ボックス 29">
            <a:extLst>
              <a:ext uri="{FF2B5EF4-FFF2-40B4-BE49-F238E27FC236}">
                <a16:creationId xmlns:a16="http://schemas.microsoft.com/office/drawing/2014/main" id="{A3B55B81-D989-41D2-9818-4EE7F6599A6C}"/>
              </a:ext>
            </a:extLst>
          </p:cNvPr>
          <p:cNvSpPr txBox="1"/>
          <p:nvPr/>
        </p:nvSpPr>
        <p:spPr>
          <a:xfrm>
            <a:off x="1257719" y="2137531"/>
            <a:ext cx="1197823" cy="261610"/>
          </a:xfrm>
          <a:prstGeom prst="rect">
            <a:avLst/>
          </a:prstGeom>
          <a:noFill/>
        </p:spPr>
        <p:txBody>
          <a:bodyPr wrap="square" rtlCol="0">
            <a:spAutoFit/>
          </a:bodyPr>
          <a:lstStyle/>
          <a:p>
            <a:r>
              <a:rPr lang="ja-JP" altLang="en-US" sz="1100" dirty="0"/>
              <a:t>分析リクエスト</a:t>
            </a:r>
          </a:p>
        </p:txBody>
      </p:sp>
      <p:sp>
        <p:nvSpPr>
          <p:cNvPr id="31" name="テキスト ボックス 30">
            <a:extLst>
              <a:ext uri="{FF2B5EF4-FFF2-40B4-BE49-F238E27FC236}">
                <a16:creationId xmlns:a16="http://schemas.microsoft.com/office/drawing/2014/main" id="{1E1942DE-1EB4-4160-9396-F1DA0DDA12C2}"/>
              </a:ext>
            </a:extLst>
          </p:cNvPr>
          <p:cNvSpPr txBox="1"/>
          <p:nvPr/>
        </p:nvSpPr>
        <p:spPr>
          <a:xfrm>
            <a:off x="2547868" y="2447820"/>
            <a:ext cx="1441512" cy="261610"/>
          </a:xfrm>
          <a:prstGeom prst="rect">
            <a:avLst/>
          </a:prstGeom>
          <a:noFill/>
        </p:spPr>
        <p:txBody>
          <a:bodyPr wrap="square" rtlCol="0">
            <a:spAutoFit/>
          </a:bodyPr>
          <a:lstStyle/>
          <a:p>
            <a:r>
              <a:rPr lang="ja-JP" altLang="en-US" sz="1100" dirty="0"/>
              <a:t>分析リクエスト保存</a:t>
            </a:r>
          </a:p>
        </p:txBody>
      </p:sp>
      <p:sp>
        <p:nvSpPr>
          <p:cNvPr id="32" name="テキスト ボックス 31">
            <a:extLst>
              <a:ext uri="{FF2B5EF4-FFF2-40B4-BE49-F238E27FC236}">
                <a16:creationId xmlns:a16="http://schemas.microsoft.com/office/drawing/2014/main" id="{2046AD70-64D8-4840-838F-2FED5DEDEC3E}"/>
              </a:ext>
            </a:extLst>
          </p:cNvPr>
          <p:cNvSpPr txBox="1"/>
          <p:nvPr/>
        </p:nvSpPr>
        <p:spPr>
          <a:xfrm>
            <a:off x="2588128" y="3076540"/>
            <a:ext cx="1441512" cy="261610"/>
          </a:xfrm>
          <a:prstGeom prst="rect">
            <a:avLst/>
          </a:prstGeom>
          <a:noFill/>
        </p:spPr>
        <p:txBody>
          <a:bodyPr wrap="square" rtlCol="0">
            <a:spAutoFit/>
          </a:bodyPr>
          <a:lstStyle/>
          <a:p>
            <a:r>
              <a:rPr lang="ja-JP" altLang="en-US" sz="1100" dirty="0"/>
              <a:t>分析開始</a:t>
            </a:r>
          </a:p>
        </p:txBody>
      </p:sp>
      <p:sp>
        <p:nvSpPr>
          <p:cNvPr id="33" name="テキスト ボックス 32">
            <a:extLst>
              <a:ext uri="{FF2B5EF4-FFF2-40B4-BE49-F238E27FC236}">
                <a16:creationId xmlns:a16="http://schemas.microsoft.com/office/drawing/2014/main" id="{4ED8C1D9-4424-489E-B7F9-A81042B4CA20}"/>
              </a:ext>
            </a:extLst>
          </p:cNvPr>
          <p:cNvSpPr txBox="1"/>
          <p:nvPr/>
        </p:nvSpPr>
        <p:spPr>
          <a:xfrm>
            <a:off x="5404039" y="3578154"/>
            <a:ext cx="1441512" cy="261610"/>
          </a:xfrm>
          <a:prstGeom prst="rect">
            <a:avLst/>
          </a:prstGeom>
          <a:noFill/>
        </p:spPr>
        <p:txBody>
          <a:bodyPr wrap="square" rtlCol="0">
            <a:spAutoFit/>
          </a:bodyPr>
          <a:lstStyle/>
          <a:p>
            <a:r>
              <a:rPr lang="ja-JP" altLang="en-US" sz="1100" dirty="0"/>
              <a:t>分析対象データ取得</a:t>
            </a:r>
          </a:p>
        </p:txBody>
      </p:sp>
      <p:sp>
        <p:nvSpPr>
          <p:cNvPr id="34" name="テキスト ボックス 33">
            <a:extLst>
              <a:ext uri="{FF2B5EF4-FFF2-40B4-BE49-F238E27FC236}">
                <a16:creationId xmlns:a16="http://schemas.microsoft.com/office/drawing/2014/main" id="{A8B5FA9E-12A3-461C-8C55-FD950023F863}"/>
              </a:ext>
            </a:extLst>
          </p:cNvPr>
          <p:cNvSpPr txBox="1"/>
          <p:nvPr/>
        </p:nvSpPr>
        <p:spPr>
          <a:xfrm>
            <a:off x="6969953" y="3937731"/>
            <a:ext cx="1441512" cy="261610"/>
          </a:xfrm>
          <a:prstGeom prst="rect">
            <a:avLst/>
          </a:prstGeom>
          <a:noFill/>
        </p:spPr>
        <p:txBody>
          <a:bodyPr wrap="square" rtlCol="0">
            <a:spAutoFit/>
          </a:bodyPr>
          <a:lstStyle/>
          <a:p>
            <a:r>
              <a:rPr lang="ja-JP" altLang="en-US" sz="1100" dirty="0"/>
              <a:t>分析処理呼び出し</a:t>
            </a:r>
          </a:p>
        </p:txBody>
      </p:sp>
      <p:sp>
        <p:nvSpPr>
          <p:cNvPr id="35" name="テキスト ボックス 34">
            <a:extLst>
              <a:ext uri="{FF2B5EF4-FFF2-40B4-BE49-F238E27FC236}">
                <a16:creationId xmlns:a16="http://schemas.microsoft.com/office/drawing/2014/main" id="{2A8AF5A0-9694-439E-8722-6837A9675399}"/>
              </a:ext>
            </a:extLst>
          </p:cNvPr>
          <p:cNvSpPr txBox="1"/>
          <p:nvPr/>
        </p:nvSpPr>
        <p:spPr>
          <a:xfrm>
            <a:off x="6969953" y="4565125"/>
            <a:ext cx="1441512" cy="261610"/>
          </a:xfrm>
          <a:prstGeom prst="rect">
            <a:avLst/>
          </a:prstGeom>
          <a:noFill/>
        </p:spPr>
        <p:txBody>
          <a:bodyPr wrap="square" rtlCol="0">
            <a:spAutoFit/>
          </a:bodyPr>
          <a:lstStyle/>
          <a:p>
            <a:r>
              <a:rPr lang="ja-JP" altLang="en-US" sz="1100" dirty="0"/>
              <a:t>分析結果</a:t>
            </a:r>
          </a:p>
        </p:txBody>
      </p:sp>
      <p:sp>
        <p:nvSpPr>
          <p:cNvPr id="36" name="テキスト ボックス 35">
            <a:extLst>
              <a:ext uri="{FF2B5EF4-FFF2-40B4-BE49-F238E27FC236}">
                <a16:creationId xmlns:a16="http://schemas.microsoft.com/office/drawing/2014/main" id="{3B27A9D2-119D-4731-9B50-2CB6F430F091}"/>
              </a:ext>
            </a:extLst>
          </p:cNvPr>
          <p:cNvSpPr txBox="1"/>
          <p:nvPr/>
        </p:nvSpPr>
        <p:spPr>
          <a:xfrm>
            <a:off x="5424140" y="4910027"/>
            <a:ext cx="1441512" cy="261610"/>
          </a:xfrm>
          <a:prstGeom prst="rect">
            <a:avLst/>
          </a:prstGeom>
          <a:noFill/>
        </p:spPr>
        <p:txBody>
          <a:bodyPr wrap="square" rtlCol="0">
            <a:spAutoFit/>
          </a:bodyPr>
          <a:lstStyle/>
          <a:p>
            <a:r>
              <a:rPr lang="ja-JP" altLang="en-US" sz="1100" dirty="0"/>
              <a:t>分析結果保存</a:t>
            </a:r>
          </a:p>
        </p:txBody>
      </p:sp>
      <p:sp>
        <p:nvSpPr>
          <p:cNvPr id="37" name="テキスト ボックス 36">
            <a:extLst>
              <a:ext uri="{FF2B5EF4-FFF2-40B4-BE49-F238E27FC236}">
                <a16:creationId xmlns:a16="http://schemas.microsoft.com/office/drawing/2014/main" id="{6DBFB0BE-F0A2-4789-8572-079532B2BA2B}"/>
              </a:ext>
            </a:extLst>
          </p:cNvPr>
          <p:cNvSpPr txBox="1"/>
          <p:nvPr/>
        </p:nvSpPr>
        <p:spPr>
          <a:xfrm>
            <a:off x="5407580" y="5483940"/>
            <a:ext cx="1441512" cy="261610"/>
          </a:xfrm>
          <a:prstGeom prst="rect">
            <a:avLst/>
          </a:prstGeom>
          <a:noFill/>
        </p:spPr>
        <p:txBody>
          <a:bodyPr wrap="square" rtlCol="0">
            <a:spAutoFit/>
          </a:bodyPr>
          <a:lstStyle/>
          <a:p>
            <a:r>
              <a:rPr lang="ja-JP" altLang="en-US" sz="1100" dirty="0"/>
              <a:t>分析終了通知</a:t>
            </a:r>
          </a:p>
        </p:txBody>
      </p:sp>
    </p:spTree>
    <p:extLst>
      <p:ext uri="{BB962C8B-B14F-4D97-AF65-F5344CB8AC3E}">
        <p14:creationId xmlns:p14="http://schemas.microsoft.com/office/powerpoint/2010/main" val="3232299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1" y="365126"/>
            <a:ext cx="8081448" cy="692966"/>
          </a:xfrm>
        </p:spPr>
        <p:txBody>
          <a:bodyPr>
            <a:normAutofit/>
          </a:bodyPr>
          <a:lstStyle/>
          <a:p>
            <a:r>
              <a:rPr lang="ja-JP" altLang="en-US" sz="3200" b="1" dirty="0"/>
              <a:t>分析ジョブ登録</a:t>
            </a:r>
            <a:endParaRPr lang="en-US" altLang="ja-JP" sz="3200" b="1" dirty="0"/>
          </a:p>
        </p:txBody>
      </p:sp>
      <p:pic>
        <p:nvPicPr>
          <p:cNvPr id="6" name="図 5">
            <a:extLst>
              <a:ext uri="{FF2B5EF4-FFF2-40B4-BE49-F238E27FC236}">
                <a16:creationId xmlns:a16="http://schemas.microsoft.com/office/drawing/2014/main" id="{500FCC91-B92C-4827-9CF9-CAD618C8E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1" y="1301579"/>
            <a:ext cx="8449316" cy="5046969"/>
          </a:xfrm>
          <a:prstGeom prst="rect">
            <a:avLst/>
          </a:prstGeom>
        </p:spPr>
      </p:pic>
    </p:spTree>
    <p:extLst>
      <p:ext uri="{BB962C8B-B14F-4D97-AF65-F5344CB8AC3E}">
        <p14:creationId xmlns:p14="http://schemas.microsoft.com/office/powerpoint/2010/main" val="1382835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42257" y="365126"/>
            <a:ext cx="6529251" cy="692966"/>
          </a:xfrm>
        </p:spPr>
        <p:txBody>
          <a:bodyPr>
            <a:normAutofit/>
          </a:bodyPr>
          <a:lstStyle/>
          <a:p>
            <a:r>
              <a:rPr lang="ja-JP" altLang="en-US" sz="3200" b="1" dirty="0"/>
              <a:t>分析ジョブ予約済み一覧</a:t>
            </a:r>
            <a:endParaRPr lang="en-US" altLang="ja-JP" sz="3200" b="1" dirty="0"/>
          </a:p>
        </p:txBody>
      </p:sp>
      <p:pic>
        <p:nvPicPr>
          <p:cNvPr id="4" name="図 3">
            <a:extLst>
              <a:ext uri="{FF2B5EF4-FFF2-40B4-BE49-F238E27FC236}">
                <a16:creationId xmlns:a16="http://schemas.microsoft.com/office/drawing/2014/main" id="{8FB14C2C-8D26-44E1-976D-ECBAF35B3AE8}"/>
              </a:ext>
            </a:extLst>
          </p:cNvPr>
          <p:cNvPicPr>
            <a:picLocks noChangeAspect="1"/>
          </p:cNvPicPr>
          <p:nvPr/>
        </p:nvPicPr>
        <p:blipFill>
          <a:blip r:embed="rId2"/>
          <a:stretch>
            <a:fillRect/>
          </a:stretch>
        </p:blipFill>
        <p:spPr>
          <a:xfrm>
            <a:off x="799011" y="1058092"/>
            <a:ext cx="8553994" cy="5303519"/>
          </a:xfrm>
          <a:prstGeom prst="rect">
            <a:avLst/>
          </a:prstGeom>
        </p:spPr>
      </p:pic>
    </p:spTree>
    <p:extLst>
      <p:ext uri="{BB962C8B-B14F-4D97-AF65-F5344CB8AC3E}">
        <p14:creationId xmlns:p14="http://schemas.microsoft.com/office/powerpoint/2010/main" val="3245195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64570" y="365126"/>
            <a:ext cx="8201297" cy="692966"/>
          </a:xfrm>
        </p:spPr>
        <p:txBody>
          <a:bodyPr>
            <a:normAutofit/>
          </a:bodyPr>
          <a:lstStyle/>
          <a:p>
            <a:r>
              <a:rPr lang="ja-JP" altLang="en-US" sz="3200" b="1" dirty="0"/>
              <a:t>実行中分析ジョブ一覧</a:t>
            </a:r>
            <a:endParaRPr lang="ja-JP" altLang="en-US" sz="3200" b="1" dirty="0"/>
          </a:p>
        </p:txBody>
      </p:sp>
      <p:pic>
        <p:nvPicPr>
          <p:cNvPr id="5" name="図 4">
            <a:extLst>
              <a:ext uri="{FF2B5EF4-FFF2-40B4-BE49-F238E27FC236}">
                <a16:creationId xmlns:a16="http://schemas.microsoft.com/office/drawing/2014/main" id="{93DA3E1D-CFDE-41C6-B2AF-4A2B97884E00}"/>
              </a:ext>
            </a:extLst>
          </p:cNvPr>
          <p:cNvPicPr>
            <a:picLocks noChangeAspect="1"/>
          </p:cNvPicPr>
          <p:nvPr/>
        </p:nvPicPr>
        <p:blipFill>
          <a:blip r:embed="rId2"/>
          <a:stretch>
            <a:fillRect/>
          </a:stretch>
        </p:blipFill>
        <p:spPr>
          <a:xfrm>
            <a:off x="664571" y="1504371"/>
            <a:ext cx="8871316" cy="3498703"/>
          </a:xfrm>
          <a:prstGeom prst="rect">
            <a:avLst/>
          </a:prstGeom>
        </p:spPr>
      </p:pic>
    </p:spTree>
    <p:extLst>
      <p:ext uri="{BB962C8B-B14F-4D97-AF65-F5344CB8AC3E}">
        <p14:creationId xmlns:p14="http://schemas.microsoft.com/office/powerpoint/2010/main" val="96308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746761" y="417378"/>
            <a:ext cx="7783286" cy="692966"/>
          </a:xfrm>
        </p:spPr>
        <p:txBody>
          <a:bodyPr>
            <a:normAutofit/>
          </a:bodyPr>
          <a:lstStyle/>
          <a:p>
            <a:r>
              <a:rPr lang="ja-JP" altLang="en-US" sz="3200" b="1" dirty="0"/>
              <a:t>分析ジョブ完了一覧</a:t>
            </a:r>
            <a:endParaRPr lang="ja-JP" altLang="en-US" sz="3200" b="1" dirty="0"/>
          </a:p>
        </p:txBody>
      </p:sp>
      <p:pic>
        <p:nvPicPr>
          <p:cNvPr id="4" name="図 3">
            <a:extLst>
              <a:ext uri="{FF2B5EF4-FFF2-40B4-BE49-F238E27FC236}">
                <a16:creationId xmlns:a16="http://schemas.microsoft.com/office/drawing/2014/main" id="{6A83AACF-0C58-4CFD-AEEB-7D7C6D0FF085}"/>
              </a:ext>
            </a:extLst>
          </p:cNvPr>
          <p:cNvPicPr>
            <a:picLocks noChangeAspect="1"/>
          </p:cNvPicPr>
          <p:nvPr/>
        </p:nvPicPr>
        <p:blipFill>
          <a:blip r:embed="rId2"/>
          <a:stretch>
            <a:fillRect/>
          </a:stretch>
        </p:blipFill>
        <p:spPr>
          <a:xfrm>
            <a:off x="746761" y="1307947"/>
            <a:ext cx="8802188" cy="3917195"/>
          </a:xfrm>
          <a:prstGeom prst="rect">
            <a:avLst/>
          </a:prstGeom>
        </p:spPr>
      </p:pic>
    </p:spTree>
    <p:extLst>
      <p:ext uri="{BB962C8B-B14F-4D97-AF65-F5344CB8AC3E}">
        <p14:creationId xmlns:p14="http://schemas.microsoft.com/office/powerpoint/2010/main" val="3768921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365126"/>
            <a:ext cx="7861663" cy="692966"/>
          </a:xfrm>
        </p:spPr>
        <p:txBody>
          <a:bodyPr>
            <a:normAutofit/>
          </a:bodyPr>
          <a:lstStyle/>
          <a:p>
            <a:r>
              <a:rPr lang="ja-JP" altLang="en-US" sz="3200" b="1" dirty="0"/>
              <a:t>相関係数一覧表示</a:t>
            </a:r>
            <a:endParaRPr lang="ja-JP" altLang="en-US" sz="3200" b="1" dirty="0"/>
          </a:p>
        </p:txBody>
      </p:sp>
      <p:pic>
        <p:nvPicPr>
          <p:cNvPr id="5" name="図 4">
            <a:extLst>
              <a:ext uri="{FF2B5EF4-FFF2-40B4-BE49-F238E27FC236}">
                <a16:creationId xmlns:a16="http://schemas.microsoft.com/office/drawing/2014/main" id="{A32606D4-2DA4-49E7-8DFD-C87A8BF9370E}"/>
              </a:ext>
            </a:extLst>
          </p:cNvPr>
          <p:cNvPicPr>
            <a:picLocks noChangeAspect="1"/>
          </p:cNvPicPr>
          <p:nvPr/>
        </p:nvPicPr>
        <p:blipFill>
          <a:blip r:embed="rId2"/>
          <a:stretch>
            <a:fillRect/>
          </a:stretch>
        </p:blipFill>
        <p:spPr>
          <a:xfrm>
            <a:off x="838200" y="1058092"/>
            <a:ext cx="7979229" cy="5262100"/>
          </a:xfrm>
          <a:prstGeom prst="rect">
            <a:avLst/>
          </a:prstGeom>
        </p:spPr>
      </p:pic>
    </p:spTree>
    <p:extLst>
      <p:ext uri="{BB962C8B-B14F-4D97-AF65-F5344CB8AC3E}">
        <p14:creationId xmlns:p14="http://schemas.microsoft.com/office/powerpoint/2010/main" val="3948576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1" y="365126"/>
            <a:ext cx="8236904" cy="692966"/>
          </a:xfrm>
        </p:spPr>
        <p:txBody>
          <a:bodyPr>
            <a:normAutofit/>
          </a:bodyPr>
          <a:lstStyle/>
          <a:p>
            <a:r>
              <a:rPr lang="ja-JP" altLang="en-US" sz="3200" b="1" dirty="0"/>
              <a:t>各種分析結果画面</a:t>
            </a:r>
            <a:endParaRPr lang="ja-JP" altLang="en-US" sz="3200" b="1" dirty="0"/>
          </a:p>
        </p:txBody>
      </p:sp>
      <p:pic>
        <p:nvPicPr>
          <p:cNvPr id="4" name="図 3">
            <a:extLst>
              <a:ext uri="{FF2B5EF4-FFF2-40B4-BE49-F238E27FC236}">
                <a16:creationId xmlns:a16="http://schemas.microsoft.com/office/drawing/2014/main" id="{61DEB7DD-77DA-4038-8806-79E42EF1C39E}"/>
              </a:ext>
            </a:extLst>
          </p:cNvPr>
          <p:cNvPicPr>
            <a:picLocks noChangeAspect="1"/>
          </p:cNvPicPr>
          <p:nvPr/>
        </p:nvPicPr>
        <p:blipFill>
          <a:blip r:embed="rId2"/>
          <a:stretch>
            <a:fillRect/>
          </a:stretch>
        </p:blipFill>
        <p:spPr>
          <a:xfrm>
            <a:off x="4958770" y="1058092"/>
            <a:ext cx="4116335" cy="3051766"/>
          </a:xfrm>
          <a:prstGeom prst="rect">
            <a:avLst/>
          </a:prstGeom>
        </p:spPr>
      </p:pic>
      <p:pic>
        <p:nvPicPr>
          <p:cNvPr id="6" name="図 5">
            <a:extLst>
              <a:ext uri="{FF2B5EF4-FFF2-40B4-BE49-F238E27FC236}">
                <a16:creationId xmlns:a16="http://schemas.microsoft.com/office/drawing/2014/main" id="{DC50E4D4-8571-4FCB-A0F6-292CC1A96F27}"/>
              </a:ext>
            </a:extLst>
          </p:cNvPr>
          <p:cNvPicPr>
            <a:picLocks noChangeAspect="1"/>
          </p:cNvPicPr>
          <p:nvPr/>
        </p:nvPicPr>
        <p:blipFill>
          <a:blip r:embed="rId3"/>
          <a:stretch>
            <a:fillRect/>
          </a:stretch>
        </p:blipFill>
        <p:spPr>
          <a:xfrm>
            <a:off x="4103201" y="3699350"/>
            <a:ext cx="3879905" cy="2893879"/>
          </a:xfrm>
          <a:prstGeom prst="rect">
            <a:avLst/>
          </a:prstGeom>
        </p:spPr>
      </p:pic>
      <p:pic>
        <p:nvPicPr>
          <p:cNvPr id="7" name="図 6">
            <a:extLst>
              <a:ext uri="{FF2B5EF4-FFF2-40B4-BE49-F238E27FC236}">
                <a16:creationId xmlns:a16="http://schemas.microsoft.com/office/drawing/2014/main" id="{D5CDDA1C-5BBF-4E54-9911-222ACA74EBD5}"/>
              </a:ext>
            </a:extLst>
          </p:cNvPr>
          <p:cNvPicPr>
            <a:picLocks noChangeAspect="1"/>
          </p:cNvPicPr>
          <p:nvPr/>
        </p:nvPicPr>
        <p:blipFill>
          <a:blip r:embed="rId4"/>
          <a:stretch>
            <a:fillRect/>
          </a:stretch>
        </p:blipFill>
        <p:spPr>
          <a:xfrm>
            <a:off x="566282" y="1733595"/>
            <a:ext cx="4133727" cy="3497769"/>
          </a:xfrm>
          <a:prstGeom prst="rect">
            <a:avLst/>
          </a:prstGeom>
        </p:spPr>
      </p:pic>
    </p:spTree>
    <p:extLst>
      <p:ext uri="{BB962C8B-B14F-4D97-AF65-F5344CB8AC3E}">
        <p14:creationId xmlns:p14="http://schemas.microsoft.com/office/powerpoint/2010/main" val="3388253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76943" y="287319"/>
            <a:ext cx="7273834" cy="692966"/>
          </a:xfrm>
        </p:spPr>
        <p:txBody>
          <a:bodyPr>
            <a:normAutofit/>
          </a:bodyPr>
          <a:lstStyle/>
          <a:p>
            <a:r>
              <a:rPr lang="ja-JP" altLang="en-US" sz="3200" b="1" dirty="0" smtClean="0"/>
              <a:t>手法候補</a:t>
            </a:r>
            <a:endParaRPr kumimoji="1" lang="ja-JP" altLang="en-US" sz="3200" b="1" dirty="0"/>
          </a:p>
        </p:txBody>
      </p:sp>
      <p:pic>
        <p:nvPicPr>
          <p:cNvPr id="4" name="table"/>
          <p:cNvPicPr>
            <a:picLocks noGrp="1" noChangeAspect="1"/>
          </p:cNvPicPr>
          <p:nvPr>
            <p:ph idx="1"/>
          </p:nvPr>
        </p:nvPicPr>
        <p:blipFill>
          <a:blip r:embed="rId2"/>
          <a:stretch>
            <a:fillRect/>
          </a:stretch>
        </p:blipFill>
        <p:spPr>
          <a:xfrm>
            <a:off x="576943" y="1373189"/>
            <a:ext cx="8789126" cy="3668504"/>
          </a:xfrm>
          <a:prstGeom prst="rect">
            <a:avLst/>
          </a:prstGeom>
        </p:spPr>
      </p:pic>
      <p:sp>
        <p:nvSpPr>
          <p:cNvPr id="5" name="テキスト プレースホルダー 3">
            <a:extLst>
              <a:ext uri="{FF2B5EF4-FFF2-40B4-BE49-F238E27FC236}">
                <a16:creationId xmlns:a16="http://schemas.microsoft.com/office/drawing/2014/main" id="{BDC89FFF-0D74-4A45-B5DC-253ADE741CEF}"/>
              </a:ext>
            </a:extLst>
          </p:cNvPr>
          <p:cNvSpPr txBox="1">
            <a:spLocks/>
          </p:cNvSpPr>
          <p:nvPr/>
        </p:nvSpPr>
        <p:spPr>
          <a:xfrm>
            <a:off x="341811" y="5165921"/>
            <a:ext cx="8135983" cy="537352"/>
          </a:xfrm>
          <a:prstGeom prst="rect">
            <a:avLst/>
          </a:prstGeom>
        </p:spPr>
        <p:txBody>
          <a:bodyPr vert="horz" lIns="91440" tIns="45720" rIns="91440" bIns="45720" rtlCol="0">
            <a:norm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dirty="0">
                <a:latin typeface="Meiryo UI" pitchFamily="50" charset="-128"/>
                <a:ea typeface="Meiryo UI" pitchFamily="50" charset="-128"/>
              </a:rPr>
              <a:t>　</a:t>
            </a:r>
            <a:r>
              <a:rPr lang="en-US" altLang="ja-JP" sz="1600" dirty="0" smtClean="0">
                <a:latin typeface="Meiryo UI" pitchFamily="50" charset="-128"/>
                <a:ea typeface="Meiryo UI" pitchFamily="50" charset="-128"/>
              </a:rPr>
              <a:t>※</a:t>
            </a:r>
            <a:r>
              <a:rPr lang="ja-JP" altLang="en-US" sz="1600" dirty="0">
                <a:latin typeface="Meiryo UI" pitchFamily="50" charset="-128"/>
                <a:ea typeface="Meiryo UI" pitchFamily="50" charset="-128"/>
              </a:rPr>
              <a:t>参考：</a:t>
            </a:r>
            <a:r>
              <a:rPr lang="en-US" altLang="ja-JP" sz="1600" dirty="0">
                <a:latin typeface="Meiryo UI" pitchFamily="50" charset="-128"/>
                <a:ea typeface="Meiryo UI" pitchFamily="50" charset="-128"/>
              </a:rPr>
              <a:t> http://www.snap-tck.com/room04/c01/stat/stat05/stat0505.html</a:t>
            </a:r>
            <a:endParaRPr lang="ja-JP" altLang="en-US" sz="1600" dirty="0"/>
          </a:p>
        </p:txBody>
      </p:sp>
    </p:spTree>
    <p:extLst>
      <p:ext uri="{BB962C8B-B14F-4D97-AF65-F5344CB8AC3E}">
        <p14:creationId xmlns:p14="http://schemas.microsoft.com/office/powerpoint/2010/main" val="3436922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50817" y="365125"/>
            <a:ext cx="8070669" cy="692966"/>
          </a:xfrm>
        </p:spPr>
        <p:txBody>
          <a:bodyPr>
            <a:normAutofit/>
          </a:bodyPr>
          <a:lstStyle/>
          <a:p>
            <a:r>
              <a:rPr lang="ja-JP" altLang="en-US" sz="3200" b="1" dirty="0"/>
              <a:t>ピアソンの積率相関係数（定義）</a:t>
            </a:r>
            <a:endParaRPr kumimoji="1" lang="ja-JP" altLang="en-US" sz="3200" b="1" dirty="0"/>
          </a:p>
        </p:txBody>
      </p:sp>
      <mc:AlternateContent xmlns:mc="http://schemas.openxmlformats.org/markup-compatibility/2006">
        <mc:Choice xmlns:a14="http://schemas.microsoft.com/office/drawing/2010/main" Requires="a14">
          <p:sp>
            <p:nvSpPr>
              <p:cNvPr id="6" name="コンテンツ プレースホルダー 2"/>
              <p:cNvSpPr>
                <a:spLocks noGrp="1"/>
              </p:cNvSpPr>
              <p:nvPr/>
            </p:nvSpPr>
            <p:spPr>
              <a:xfrm>
                <a:off x="550817" y="1644177"/>
                <a:ext cx="9063446" cy="2433176"/>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pPr algn="ctr"/>
                <a:r>
                  <a:rPr lang="ja-JP" altLang="en-US" dirty="0" smtClean="0"/>
                  <a:t>軽量尺度の系列「</a:t>
                </a:r>
                <a:r>
                  <a:rPr lang="en-US" altLang="ja-JP" dirty="0" smtClean="0"/>
                  <a:t>x</a:t>
                </a:r>
                <a:r>
                  <a:rPr lang="ja-JP" altLang="en-US" dirty="0" smtClean="0"/>
                  <a:t>」と「</a:t>
                </a:r>
                <a:r>
                  <a:rPr lang="en-US" altLang="ja-JP" dirty="0" smtClean="0"/>
                  <a:t>y</a:t>
                </a:r>
                <a:r>
                  <a:rPr lang="ja-JP" altLang="en-US" dirty="0" smtClean="0"/>
                  <a:t>」に対し、下記の方式がピアソンの積率相関と呼ばれている。    </a:t>
                </a:r>
                <a:endParaRPr kumimoji="1" lang="en-US" altLang="ja-JP" sz="3200" i="1" dirty="0" smtClean="0">
                  <a:latin typeface="Cambria Math" panose="02040503050406030204" pitchFamily="18" charset="0"/>
                </a:endParaRPr>
              </a:p>
              <a:p>
                <a:pPr marL="0" indent="0" algn="ctr">
                  <a:buNone/>
                </a:pPr>
                <a14:m>
                  <m:oMath xmlns:m="http://schemas.openxmlformats.org/officeDocument/2006/math">
                    <m:r>
                      <a:rPr kumimoji="1" lang="ja-JP" altLang="en-US" sz="3200" i="1" smtClean="0">
                        <a:latin typeface="Cambria Math" panose="02040503050406030204" pitchFamily="18" charset="0"/>
                      </a:rPr>
                      <m:t>𝜌</m:t>
                    </m:r>
                    <m:r>
                      <a:rPr kumimoji="1" lang="en-US" altLang="ja-JP" sz="3200" i="1" smtClean="0">
                        <a:latin typeface="Cambria Math" panose="02040503050406030204" pitchFamily="18" charset="0"/>
                        <a:ea typeface="Cambria Math" panose="02040503050406030204" pitchFamily="18" charset="0"/>
                      </a:rPr>
                      <m:t>=</m:t>
                    </m:r>
                    <m:f>
                      <m:fPr>
                        <m:ctrlPr>
                          <a:rPr kumimoji="1" lang="en-US" altLang="ja-JP" sz="3200" i="1" smtClean="0">
                            <a:latin typeface="Cambria Math" panose="02040503050406030204" pitchFamily="18" charset="0"/>
                            <a:ea typeface="Cambria Math" panose="02040503050406030204" pitchFamily="18" charset="0"/>
                          </a:rPr>
                        </m:ctrlPr>
                      </m:fPr>
                      <m:num>
                        <m:nary>
                          <m:naryPr>
                            <m:chr m:val="∑"/>
                            <m:ctrlPr>
                              <a:rPr kumimoji="1" lang="en-US" altLang="ja-JP" sz="3200" i="1" smtClean="0">
                                <a:latin typeface="Cambria Math" panose="02040503050406030204" pitchFamily="18" charset="0"/>
                                <a:ea typeface="Cambria Math" panose="02040503050406030204" pitchFamily="18" charset="0"/>
                              </a:rPr>
                            </m:ctrlPr>
                          </m:naryPr>
                          <m:sub>
                            <m:r>
                              <m:rPr>
                                <m:brk m:alnAt="23"/>
                              </m:rPr>
                              <a:rPr kumimoji="1" lang="en-US" altLang="ja-JP" sz="3200" b="0" i="1" smtClean="0">
                                <a:latin typeface="Cambria Math" panose="02040503050406030204" pitchFamily="18" charset="0"/>
                                <a:ea typeface="Cambria Math" panose="02040503050406030204" pitchFamily="18" charset="0"/>
                              </a:rPr>
                              <m:t>𝑖</m:t>
                            </m:r>
                            <m:r>
                              <a:rPr kumimoji="1" lang="en-US" altLang="ja-JP" sz="3200" b="0" i="1" smtClean="0">
                                <a:latin typeface="Cambria Math" panose="02040503050406030204" pitchFamily="18" charset="0"/>
                                <a:ea typeface="Cambria Math" panose="02040503050406030204" pitchFamily="18" charset="0"/>
                              </a:rPr>
                              <m:t>=1</m:t>
                            </m:r>
                          </m:sub>
                          <m:sup>
                            <m:r>
                              <a:rPr kumimoji="1" lang="en-US" altLang="ja-JP" sz="3200" b="0" i="1" smtClean="0">
                                <a:latin typeface="Cambria Math" panose="02040503050406030204" pitchFamily="18" charset="0"/>
                                <a:ea typeface="Cambria Math" panose="02040503050406030204" pitchFamily="18" charset="0"/>
                              </a:rPr>
                              <m:t>𝑛</m:t>
                            </m:r>
                          </m:sup>
                          <m:e>
                            <m:d>
                              <m:dPr>
                                <m:ctrlPr>
                                  <a:rPr lang="en-US" altLang="ja-JP" sz="3200" i="1">
                                    <a:latin typeface="Cambria Math" panose="02040503050406030204" pitchFamily="18" charset="0"/>
                                    <a:ea typeface="Cambria Math" panose="02040503050406030204" pitchFamily="18" charset="0"/>
                                  </a:rPr>
                                </m:ctrlPr>
                              </m:dPr>
                              <m:e>
                                <m:r>
                                  <a:rPr lang="en-US" altLang="ja-JP" sz="3200" i="1">
                                    <a:latin typeface="Cambria Math" panose="02040503050406030204" pitchFamily="18" charset="0"/>
                                    <a:ea typeface="Cambria Math" panose="02040503050406030204" pitchFamily="18" charset="0"/>
                                  </a:rPr>
                                  <m:t>𝑥</m:t>
                                </m:r>
                                <m:r>
                                  <a:rPr lang="en-US" altLang="ja-JP" sz="3200" i="1" baseline="-25000">
                                    <a:latin typeface="Cambria Math" panose="02040503050406030204" pitchFamily="18" charset="0"/>
                                    <a:ea typeface="Cambria Math" panose="02040503050406030204" pitchFamily="18" charset="0"/>
                                  </a:rPr>
                                  <m:t>𝑖</m:t>
                                </m:r>
                                <m:r>
                                  <a:rPr lang="en-US" altLang="ja-JP" sz="3200" i="1">
                                    <a:latin typeface="Cambria Math" panose="02040503050406030204" pitchFamily="18" charset="0"/>
                                    <a:ea typeface="Cambria Math" panose="02040503050406030204" pitchFamily="18" charset="0"/>
                                  </a:rPr>
                                  <m:t>− </m:t>
                                </m:r>
                                <m:bar>
                                  <m:barPr>
                                    <m:pos m:val="top"/>
                                    <m:ctrlPr>
                                      <a:rPr lang="en-US" altLang="ja-JP" sz="3200" i="1">
                                        <a:latin typeface="Cambria Math" panose="02040503050406030204" pitchFamily="18" charset="0"/>
                                        <a:ea typeface="Cambria Math" panose="02040503050406030204" pitchFamily="18" charset="0"/>
                                      </a:rPr>
                                    </m:ctrlPr>
                                  </m:barPr>
                                  <m:e>
                                    <m:r>
                                      <a:rPr lang="en-US" altLang="ja-JP" sz="3200" i="1">
                                        <a:latin typeface="Cambria Math" panose="02040503050406030204" pitchFamily="18" charset="0"/>
                                        <a:ea typeface="Cambria Math" panose="02040503050406030204" pitchFamily="18" charset="0"/>
                                      </a:rPr>
                                      <m:t>𝑥</m:t>
                                    </m:r>
                                  </m:e>
                                </m:bar>
                              </m:e>
                            </m:d>
                            <m:d>
                              <m:dPr>
                                <m:ctrlPr>
                                  <a:rPr lang="en-US" altLang="ja-JP" sz="3200" i="1">
                                    <a:latin typeface="Cambria Math" panose="02040503050406030204" pitchFamily="18" charset="0"/>
                                    <a:ea typeface="Cambria Math" panose="02040503050406030204" pitchFamily="18" charset="0"/>
                                  </a:rPr>
                                </m:ctrlPr>
                              </m:dPr>
                              <m:e>
                                <m:r>
                                  <a:rPr lang="en-US" altLang="ja-JP" sz="3200" i="1">
                                    <a:latin typeface="Cambria Math" panose="02040503050406030204" pitchFamily="18" charset="0"/>
                                    <a:ea typeface="Cambria Math" panose="02040503050406030204" pitchFamily="18" charset="0"/>
                                  </a:rPr>
                                  <m:t>𝑦</m:t>
                                </m:r>
                                <m:r>
                                  <a:rPr lang="en-US" altLang="ja-JP" sz="3200" i="1" baseline="-25000">
                                    <a:latin typeface="Cambria Math" panose="02040503050406030204" pitchFamily="18" charset="0"/>
                                    <a:ea typeface="Cambria Math" panose="02040503050406030204" pitchFamily="18" charset="0"/>
                                  </a:rPr>
                                  <m:t>𝑖</m:t>
                                </m:r>
                                <m:r>
                                  <a:rPr lang="en-US" altLang="ja-JP" sz="3200" i="1">
                                    <a:latin typeface="Cambria Math" panose="02040503050406030204" pitchFamily="18" charset="0"/>
                                    <a:ea typeface="Cambria Math" panose="02040503050406030204" pitchFamily="18" charset="0"/>
                                  </a:rPr>
                                  <m:t> − </m:t>
                                </m:r>
                                <m:bar>
                                  <m:barPr>
                                    <m:pos m:val="top"/>
                                    <m:ctrlPr>
                                      <a:rPr lang="en-US" altLang="ja-JP" sz="3200" i="1">
                                        <a:latin typeface="Cambria Math" panose="02040503050406030204" pitchFamily="18" charset="0"/>
                                        <a:ea typeface="Cambria Math" panose="02040503050406030204" pitchFamily="18" charset="0"/>
                                      </a:rPr>
                                    </m:ctrlPr>
                                  </m:barPr>
                                  <m:e>
                                    <m:r>
                                      <a:rPr lang="en-US" altLang="ja-JP" sz="3200" i="1">
                                        <a:latin typeface="Cambria Math" panose="02040503050406030204" pitchFamily="18" charset="0"/>
                                        <a:ea typeface="Cambria Math" panose="02040503050406030204" pitchFamily="18" charset="0"/>
                                      </a:rPr>
                                      <m:t>𝑦</m:t>
                                    </m:r>
                                  </m:e>
                                </m:bar>
                              </m:e>
                            </m:d>
                          </m:e>
                        </m:nary>
                      </m:num>
                      <m:den>
                        <m:rad>
                          <m:radPr>
                            <m:degHide m:val="on"/>
                            <m:ctrlPr>
                              <a:rPr kumimoji="1" lang="en-US" altLang="ja-JP" sz="3200" i="1" smtClean="0">
                                <a:latin typeface="Cambria Math" panose="02040503050406030204" pitchFamily="18" charset="0"/>
                                <a:ea typeface="Cambria Math" panose="02040503050406030204" pitchFamily="18" charset="0"/>
                              </a:rPr>
                            </m:ctrlPr>
                          </m:radPr>
                          <m:deg/>
                          <m:e>
                            <m:d>
                              <m:dPr>
                                <m:ctrlPr>
                                  <a:rPr kumimoji="1" lang="en-US" altLang="ja-JP" sz="3200" i="1" smtClean="0">
                                    <a:latin typeface="Cambria Math" panose="02040503050406030204" pitchFamily="18" charset="0"/>
                                    <a:ea typeface="Cambria Math" panose="02040503050406030204" pitchFamily="18" charset="0"/>
                                  </a:rPr>
                                </m:ctrlPr>
                              </m:dPr>
                              <m:e>
                                <m:nary>
                                  <m:naryPr>
                                    <m:chr m:val="∑"/>
                                    <m:ctrlPr>
                                      <a:rPr kumimoji="1" lang="en-US" altLang="ja-JP" sz="3200" i="1" smtClean="0">
                                        <a:latin typeface="Cambria Math" panose="02040503050406030204" pitchFamily="18" charset="0"/>
                                        <a:ea typeface="Cambria Math" panose="02040503050406030204" pitchFamily="18" charset="0"/>
                                      </a:rPr>
                                    </m:ctrlPr>
                                  </m:naryPr>
                                  <m:sub>
                                    <m:r>
                                      <m:rPr>
                                        <m:brk m:alnAt="23"/>
                                      </m:rPr>
                                      <a:rPr kumimoji="1" lang="en-US" altLang="ja-JP" sz="3200" b="0" i="1" smtClean="0">
                                        <a:latin typeface="Cambria Math" panose="02040503050406030204" pitchFamily="18" charset="0"/>
                                        <a:ea typeface="Cambria Math" panose="02040503050406030204" pitchFamily="18" charset="0"/>
                                      </a:rPr>
                                      <m:t>𝑖</m:t>
                                    </m:r>
                                    <m:r>
                                      <a:rPr kumimoji="1" lang="en-US" altLang="ja-JP" sz="3200" b="0" i="1" smtClean="0">
                                        <a:latin typeface="Cambria Math" panose="02040503050406030204" pitchFamily="18" charset="0"/>
                                        <a:ea typeface="Cambria Math" panose="02040503050406030204" pitchFamily="18" charset="0"/>
                                      </a:rPr>
                                      <m:t>=1</m:t>
                                    </m:r>
                                  </m:sub>
                                  <m:sup>
                                    <m:r>
                                      <a:rPr kumimoji="1" lang="en-US" altLang="ja-JP" sz="3200" b="0" i="1" smtClean="0">
                                        <a:latin typeface="Cambria Math" panose="02040503050406030204" pitchFamily="18" charset="0"/>
                                        <a:ea typeface="Cambria Math" panose="02040503050406030204" pitchFamily="18" charset="0"/>
                                      </a:rPr>
                                      <m:t>𝑛</m:t>
                                    </m:r>
                                  </m:sup>
                                  <m:e>
                                    <m:sSup>
                                      <m:sSupPr>
                                        <m:ctrlPr>
                                          <a:rPr lang="en-US" altLang="ja-JP" sz="3200" i="1">
                                            <a:latin typeface="Cambria Math" panose="02040503050406030204" pitchFamily="18" charset="0"/>
                                            <a:ea typeface="Cambria Math" panose="02040503050406030204" pitchFamily="18" charset="0"/>
                                          </a:rPr>
                                        </m:ctrlPr>
                                      </m:sSupPr>
                                      <m:e>
                                        <m:d>
                                          <m:dPr>
                                            <m:ctrlPr>
                                              <a:rPr lang="en-US" altLang="ja-JP" sz="3200" i="1">
                                                <a:latin typeface="Cambria Math" panose="02040503050406030204" pitchFamily="18" charset="0"/>
                                                <a:ea typeface="Cambria Math" panose="02040503050406030204" pitchFamily="18" charset="0"/>
                                              </a:rPr>
                                            </m:ctrlPr>
                                          </m:dPr>
                                          <m:e>
                                            <m:r>
                                              <a:rPr lang="en-US" altLang="ja-JP" sz="3200" i="1">
                                                <a:latin typeface="Cambria Math" panose="02040503050406030204" pitchFamily="18" charset="0"/>
                                                <a:ea typeface="Cambria Math" panose="02040503050406030204" pitchFamily="18" charset="0"/>
                                              </a:rPr>
                                              <m:t>𝑥</m:t>
                                            </m:r>
                                            <m:r>
                                              <a:rPr lang="en-US" altLang="ja-JP" sz="3200" i="1" baseline="-25000">
                                                <a:latin typeface="Cambria Math" panose="02040503050406030204" pitchFamily="18" charset="0"/>
                                                <a:ea typeface="Cambria Math" panose="02040503050406030204" pitchFamily="18" charset="0"/>
                                              </a:rPr>
                                              <m:t>𝑖</m:t>
                                            </m:r>
                                            <m:r>
                                              <a:rPr lang="en-US" altLang="ja-JP" sz="3200" i="1">
                                                <a:latin typeface="Cambria Math" panose="02040503050406030204" pitchFamily="18" charset="0"/>
                                                <a:ea typeface="Cambria Math" panose="02040503050406030204" pitchFamily="18" charset="0"/>
                                              </a:rPr>
                                              <m:t>−</m:t>
                                            </m:r>
                                            <m:bar>
                                              <m:barPr>
                                                <m:pos m:val="top"/>
                                                <m:ctrlPr>
                                                  <a:rPr lang="en-US" altLang="ja-JP" sz="3200" i="1">
                                                    <a:latin typeface="Cambria Math" panose="02040503050406030204" pitchFamily="18" charset="0"/>
                                                    <a:ea typeface="Cambria Math" panose="02040503050406030204" pitchFamily="18" charset="0"/>
                                                  </a:rPr>
                                                </m:ctrlPr>
                                              </m:barPr>
                                              <m:e>
                                                <m:r>
                                                  <a:rPr lang="en-US" altLang="ja-JP" sz="3200" i="1">
                                                    <a:latin typeface="Cambria Math" panose="02040503050406030204" pitchFamily="18" charset="0"/>
                                                    <a:ea typeface="Cambria Math" panose="02040503050406030204" pitchFamily="18" charset="0"/>
                                                  </a:rPr>
                                                  <m:t>𝑥</m:t>
                                                </m:r>
                                              </m:e>
                                            </m:bar>
                                          </m:e>
                                        </m:d>
                                      </m:e>
                                      <m:sup>
                                        <m:r>
                                          <a:rPr lang="en-US" altLang="ja-JP" sz="3200" i="1">
                                            <a:latin typeface="Cambria Math" panose="02040503050406030204" pitchFamily="18" charset="0"/>
                                            <a:ea typeface="Cambria Math" panose="02040503050406030204" pitchFamily="18" charset="0"/>
                                          </a:rPr>
                                          <m:t>2</m:t>
                                        </m:r>
                                      </m:sup>
                                    </m:sSup>
                                  </m:e>
                                </m:nary>
                              </m:e>
                            </m:d>
                            <m:d>
                              <m:dPr>
                                <m:ctrlPr>
                                  <a:rPr kumimoji="1" lang="en-US" altLang="ja-JP" sz="3200" i="1" smtClean="0">
                                    <a:latin typeface="Cambria Math" panose="02040503050406030204" pitchFamily="18" charset="0"/>
                                    <a:ea typeface="Cambria Math" panose="02040503050406030204" pitchFamily="18" charset="0"/>
                                  </a:rPr>
                                </m:ctrlPr>
                              </m:dPr>
                              <m:e>
                                <m:nary>
                                  <m:naryPr>
                                    <m:chr m:val="∑"/>
                                    <m:ctrlPr>
                                      <a:rPr kumimoji="1" lang="en-US" altLang="ja-JP" sz="3200" i="1" smtClean="0">
                                        <a:latin typeface="Cambria Math" panose="02040503050406030204" pitchFamily="18" charset="0"/>
                                        <a:ea typeface="Cambria Math" panose="02040503050406030204" pitchFamily="18" charset="0"/>
                                      </a:rPr>
                                    </m:ctrlPr>
                                  </m:naryPr>
                                  <m:sub>
                                    <m:r>
                                      <m:rPr>
                                        <m:brk m:alnAt="23"/>
                                      </m:rPr>
                                      <a:rPr kumimoji="1" lang="en-US" altLang="ja-JP" sz="3200" b="0" i="1" smtClean="0">
                                        <a:latin typeface="Cambria Math" panose="02040503050406030204" pitchFamily="18" charset="0"/>
                                        <a:ea typeface="Cambria Math" panose="02040503050406030204" pitchFamily="18" charset="0"/>
                                      </a:rPr>
                                      <m:t>𝑖</m:t>
                                    </m:r>
                                    <m:r>
                                      <a:rPr kumimoji="1" lang="en-US" altLang="ja-JP" sz="3200" b="0" i="1" smtClean="0">
                                        <a:latin typeface="Cambria Math" panose="02040503050406030204" pitchFamily="18" charset="0"/>
                                        <a:ea typeface="Cambria Math" panose="02040503050406030204" pitchFamily="18" charset="0"/>
                                      </a:rPr>
                                      <m:t>=1</m:t>
                                    </m:r>
                                  </m:sub>
                                  <m:sup>
                                    <m:r>
                                      <a:rPr kumimoji="1" lang="en-US" altLang="ja-JP" sz="3200" b="0" i="1" smtClean="0">
                                        <a:latin typeface="Cambria Math" panose="02040503050406030204" pitchFamily="18" charset="0"/>
                                        <a:ea typeface="Cambria Math" panose="02040503050406030204" pitchFamily="18" charset="0"/>
                                      </a:rPr>
                                      <m:t>𝑛</m:t>
                                    </m:r>
                                  </m:sup>
                                  <m:e>
                                    <m:sSup>
                                      <m:sSupPr>
                                        <m:ctrlPr>
                                          <a:rPr kumimoji="1" lang="en-US" altLang="ja-JP" sz="3200" i="1" smtClean="0">
                                            <a:latin typeface="Cambria Math" panose="02040503050406030204" pitchFamily="18" charset="0"/>
                                            <a:ea typeface="Cambria Math" panose="02040503050406030204" pitchFamily="18" charset="0"/>
                                          </a:rPr>
                                        </m:ctrlPr>
                                      </m:sSupPr>
                                      <m:e>
                                        <m:d>
                                          <m:dPr>
                                            <m:ctrlPr>
                                              <a:rPr kumimoji="1" lang="en-US" altLang="ja-JP" sz="3200" i="1" smtClean="0">
                                                <a:latin typeface="Cambria Math" panose="02040503050406030204" pitchFamily="18" charset="0"/>
                                                <a:ea typeface="Cambria Math" panose="02040503050406030204" pitchFamily="18" charset="0"/>
                                              </a:rPr>
                                            </m:ctrlPr>
                                          </m:dPr>
                                          <m:e>
                                            <m:r>
                                              <a:rPr kumimoji="1" lang="en-US" altLang="ja-JP" sz="3200" b="0" i="1" smtClean="0">
                                                <a:latin typeface="Cambria Math" panose="02040503050406030204" pitchFamily="18" charset="0"/>
                                                <a:ea typeface="Cambria Math" panose="02040503050406030204" pitchFamily="18" charset="0"/>
                                              </a:rPr>
                                              <m:t>𝑦</m:t>
                                            </m:r>
                                            <m:r>
                                              <a:rPr kumimoji="1" lang="en-US" altLang="ja-JP" sz="3200" b="0" i="1" baseline="-25000" smtClean="0">
                                                <a:latin typeface="Cambria Math" panose="02040503050406030204" pitchFamily="18" charset="0"/>
                                                <a:ea typeface="Cambria Math" panose="02040503050406030204" pitchFamily="18" charset="0"/>
                                              </a:rPr>
                                              <m:t>𝑖</m:t>
                                            </m:r>
                                            <m:r>
                                              <a:rPr kumimoji="1" lang="en-US" altLang="ja-JP" sz="3200" b="0" i="1" smtClean="0">
                                                <a:latin typeface="Cambria Math" panose="02040503050406030204" pitchFamily="18" charset="0"/>
                                                <a:ea typeface="Cambria Math" panose="02040503050406030204" pitchFamily="18" charset="0"/>
                                              </a:rPr>
                                              <m:t> − </m:t>
                                            </m:r>
                                            <m:bar>
                                              <m:barPr>
                                                <m:pos m:val="top"/>
                                                <m:ctrlPr>
                                                  <a:rPr kumimoji="1" lang="en-US" altLang="ja-JP" sz="3200" b="0" i="1" smtClean="0">
                                                    <a:latin typeface="Cambria Math" panose="02040503050406030204" pitchFamily="18" charset="0"/>
                                                    <a:ea typeface="Cambria Math" panose="02040503050406030204" pitchFamily="18" charset="0"/>
                                                  </a:rPr>
                                                </m:ctrlPr>
                                              </m:barPr>
                                              <m:e>
                                                <m:r>
                                                  <a:rPr kumimoji="1" lang="en-US" altLang="ja-JP" sz="3200" b="0" i="1" smtClean="0">
                                                    <a:latin typeface="Cambria Math" panose="02040503050406030204" pitchFamily="18" charset="0"/>
                                                    <a:ea typeface="Cambria Math" panose="02040503050406030204" pitchFamily="18" charset="0"/>
                                                  </a:rPr>
                                                  <m:t>𝑦</m:t>
                                                </m:r>
                                              </m:e>
                                            </m:bar>
                                          </m:e>
                                        </m:d>
                                      </m:e>
                                      <m:sup>
                                        <m:r>
                                          <a:rPr kumimoji="1" lang="en-US" altLang="ja-JP" sz="3200" i="1" smtClean="0">
                                            <a:latin typeface="Cambria Math" panose="02040503050406030204" pitchFamily="18" charset="0"/>
                                            <a:ea typeface="Cambria Math" panose="02040503050406030204" pitchFamily="18" charset="0"/>
                                          </a:rPr>
                                          <m:t>2</m:t>
                                        </m:r>
                                      </m:sup>
                                    </m:sSup>
                                  </m:e>
                                </m:nary>
                              </m:e>
                            </m:d>
                          </m:e>
                        </m:rad>
                      </m:den>
                    </m:f>
                  </m:oMath>
                </a14:m>
                <a:r>
                  <a:rPr kumimoji="1" lang="ja-JP" altLang="en-US" sz="3200" dirty="0" smtClean="0"/>
                  <a:t> </a:t>
                </a:r>
                <a:endParaRPr kumimoji="1" lang="ja-JP" altLang="en-US" sz="3200" dirty="0"/>
              </a:p>
            </p:txBody>
          </p:sp>
        </mc:Choice>
        <mc:Fallback>
          <p:sp>
            <p:nvSpPr>
              <p:cNvPr id="6" name="コンテンツ プレースホルダー 2"/>
              <p:cNvSpPr>
                <a:spLocks noGrp="1" noRot="1" noChangeAspect="1" noMove="1" noResize="1" noEditPoints="1" noAdjustHandles="1" noChangeArrowheads="1" noChangeShapeType="1" noTextEdit="1"/>
              </p:cNvSpPr>
              <p:nvPr/>
            </p:nvSpPr>
            <p:spPr>
              <a:xfrm>
                <a:off x="550817" y="1644177"/>
                <a:ext cx="9063446" cy="2433176"/>
              </a:xfrm>
              <a:prstGeom prst="rect">
                <a:avLst/>
              </a:prstGeom>
              <a:blipFill>
                <a:blip r:embed="rId2"/>
                <a:stretch>
                  <a:fillRect l="-605" t="-752" r="-74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7" name="コンテンツ プレースホルダー 2"/>
              <p:cNvSpPr>
                <a:spLocks noGrp="1"/>
              </p:cNvSpPr>
              <p:nvPr/>
            </p:nvSpPr>
            <p:spPr>
              <a:xfrm>
                <a:off x="642258" y="4663439"/>
                <a:ext cx="8580120" cy="1254035"/>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r>
                  <a:rPr lang="en-US" altLang="ja-JP" dirty="0"/>
                  <a:t>n</a:t>
                </a:r>
                <a:r>
                  <a:rPr lang="ja-JP" altLang="en-US" dirty="0"/>
                  <a:t>は行数で、</a:t>
                </a:r>
                <a:r>
                  <a:rPr lang="en-US" altLang="ja-JP" dirty="0">
                    <a:ea typeface="Cambria Math" panose="02040503050406030204" pitchFamily="18" charset="0"/>
                  </a:rPr>
                  <a:t> </a:t>
                </a:r>
                <a14:m>
                  <m:oMath xmlns:m="http://schemas.openxmlformats.org/officeDocument/2006/math">
                    <m:r>
                      <a:rPr lang="en-US" altLang="ja-JP" i="1">
                        <a:latin typeface="Cambria Math" panose="02040503050406030204" pitchFamily="18" charset="0"/>
                        <a:ea typeface="Cambria Math" panose="02040503050406030204" pitchFamily="18" charset="0"/>
                      </a:rPr>
                      <m:t>𝑥</m:t>
                    </m:r>
                    <m:r>
                      <a:rPr lang="en-US" altLang="ja-JP" i="1" baseline="-25000">
                        <a:latin typeface="Cambria Math" panose="02040503050406030204" pitchFamily="18" charset="0"/>
                        <a:ea typeface="Cambria Math" panose="02040503050406030204" pitchFamily="18" charset="0"/>
                      </a:rPr>
                      <m:t>𝑖</m:t>
                    </m:r>
                  </m:oMath>
                </a14:m>
                <a:r>
                  <a:rPr lang="ja-JP" altLang="en-US" dirty="0">
                    <a:latin typeface="Cambria Math" panose="02040503050406030204" pitchFamily="18" charset="0"/>
                  </a:rPr>
                  <a:t>は</a:t>
                </a:r>
                <a14:m>
                  <m:oMath xmlns:m="http://schemas.openxmlformats.org/officeDocument/2006/math">
                    <m:r>
                      <m:rPr>
                        <m:nor/>
                      </m:rPr>
                      <a:rPr lang="ja-JP" altLang="en-US" dirty="0"/>
                      <m:t>系列「</m:t>
                    </m:r>
                    <m:r>
                      <m:rPr>
                        <m:nor/>
                      </m:rPr>
                      <a:rPr lang="en-US" altLang="ja-JP" dirty="0"/>
                      <m:t>x</m:t>
                    </m:r>
                    <m:r>
                      <m:rPr>
                        <m:nor/>
                      </m:rPr>
                      <a:rPr lang="ja-JP" altLang="en-US" dirty="0"/>
                      <m:t>」</m:t>
                    </m:r>
                  </m:oMath>
                </a14:m>
                <a:r>
                  <a:rPr lang="ja-JP" altLang="en-US" dirty="0">
                    <a:latin typeface="Cambria Math" panose="02040503050406030204" pitchFamily="18" charset="0"/>
                  </a:rPr>
                  <a:t>の</a:t>
                </a:r>
                <a:r>
                  <a:rPr lang="en-US" altLang="ja-JP" dirty="0" err="1">
                    <a:latin typeface="Cambria Math" panose="02040503050406030204" pitchFamily="18" charset="0"/>
                  </a:rPr>
                  <a:t>i</a:t>
                </a:r>
                <a:r>
                  <a:rPr lang="ja-JP" altLang="en-US" dirty="0">
                    <a:latin typeface="Cambria Math" panose="02040503050406030204" pitchFamily="18" charset="0"/>
                  </a:rPr>
                  <a:t>番目の要素</a:t>
                </a:r>
                <a:r>
                  <a:rPr lang="ja-JP" altLang="en-US" dirty="0"/>
                  <a:t>を示す。</a:t>
                </a:r>
                <a:endParaRPr lang="en-US" altLang="ja-JP" dirty="0"/>
              </a:p>
              <a:p>
                <a14:m>
                  <m:oMath xmlns:m="http://schemas.openxmlformats.org/officeDocument/2006/math">
                    <m:r>
                      <a:rPr lang="ja-JP" altLang="en-US" i="1" dirty="0">
                        <a:latin typeface="Cambria Math" panose="02040503050406030204" pitchFamily="18" charset="0"/>
                        <a:ea typeface="Cambria Math" panose="02040503050406030204" pitchFamily="18" charset="0"/>
                      </a:rPr>
                      <m:t>「</m:t>
                    </m:r>
                    <m:bar>
                      <m:barPr>
                        <m:pos m:val="top"/>
                        <m:ctrlPr>
                          <a:rPr lang="en-US" altLang="ja-JP" i="1">
                            <a:latin typeface="Cambria Math" panose="02040503050406030204" pitchFamily="18" charset="0"/>
                            <a:ea typeface="Cambria Math" panose="02040503050406030204" pitchFamily="18" charset="0"/>
                          </a:rPr>
                        </m:ctrlPr>
                      </m:barPr>
                      <m:e>
                        <m:r>
                          <a:rPr lang="en-US" altLang="ja-JP" i="1">
                            <a:latin typeface="Cambria Math" panose="02040503050406030204" pitchFamily="18" charset="0"/>
                            <a:ea typeface="Cambria Math" panose="02040503050406030204" pitchFamily="18" charset="0"/>
                          </a:rPr>
                          <m:t>𝑥</m:t>
                        </m:r>
                      </m:e>
                    </m:bar>
                    <m:r>
                      <a:rPr lang="ja-JP" altLang="en-US" i="1">
                        <a:latin typeface="Cambria Math" panose="02040503050406030204" pitchFamily="18" charset="0"/>
                        <a:ea typeface="Cambria Math" panose="02040503050406030204" pitchFamily="18" charset="0"/>
                      </a:rPr>
                      <m:t>」</m:t>
                    </m:r>
                    <m:r>
                      <m:rPr>
                        <m:nor/>
                      </m:rPr>
                      <a:rPr lang="ja-JP" altLang="en-US" dirty="0"/>
                      <m:t>は系列「</m:t>
                    </m:r>
                    <m:r>
                      <m:rPr>
                        <m:nor/>
                      </m:rPr>
                      <a:rPr lang="en-US" altLang="ja-JP" dirty="0"/>
                      <m:t>x</m:t>
                    </m:r>
                    <m:r>
                      <m:rPr>
                        <m:nor/>
                      </m:rPr>
                      <a:rPr lang="ja-JP" altLang="en-US" dirty="0"/>
                      <m:t>」</m:t>
                    </m:r>
                  </m:oMath>
                </a14:m>
                <a:r>
                  <a:rPr lang="ja-JP" altLang="en-US" dirty="0">
                    <a:latin typeface="Cambria Math" panose="02040503050406030204" pitchFamily="18" charset="0"/>
                  </a:rPr>
                  <a:t>の平均値となる。</a:t>
                </a:r>
                <a:endParaRPr lang="en-US" altLang="ja-JP" dirty="0">
                  <a:latin typeface="Cambria Math" panose="02040503050406030204" pitchFamily="18" charset="0"/>
                </a:endParaRPr>
              </a:p>
            </p:txBody>
          </p:sp>
        </mc:Choice>
        <mc:Fallback>
          <p:sp>
            <p:nvSpPr>
              <p:cNvPr id="7" name="コンテンツ プレースホルダー 2"/>
              <p:cNvSpPr>
                <a:spLocks noGrp="1" noRot="1" noChangeAspect="1" noMove="1" noResize="1" noEditPoints="1" noAdjustHandles="1" noChangeArrowheads="1" noChangeShapeType="1" noTextEdit="1"/>
              </p:cNvSpPr>
              <p:nvPr/>
            </p:nvSpPr>
            <p:spPr>
              <a:xfrm>
                <a:off x="642258" y="4663439"/>
                <a:ext cx="8580120" cy="1254035"/>
              </a:xfrm>
              <a:prstGeom prst="rect">
                <a:avLst/>
              </a:prstGeom>
              <a:blipFill>
                <a:blip r:embed="rId3"/>
                <a:stretch>
                  <a:fillRect l="-639" t="-97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63959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77334" y="609600"/>
            <a:ext cx="6964437" cy="866503"/>
          </a:xfrm>
        </p:spPr>
        <p:txBody>
          <a:bodyPr>
            <a:normAutofit/>
          </a:bodyPr>
          <a:lstStyle/>
          <a:p>
            <a:r>
              <a:rPr lang="en-US" altLang="ja-JP" sz="3200" b="1" dirty="0" smtClean="0"/>
              <a:t>Thrust</a:t>
            </a:r>
            <a:r>
              <a:rPr lang="ja-JP" altLang="en-US" sz="3200" b="1" dirty="0" smtClean="0"/>
              <a:t>について</a:t>
            </a:r>
            <a:endParaRPr kumimoji="1" lang="ja-JP" altLang="en-US" sz="3200" b="1" dirty="0"/>
          </a:p>
        </p:txBody>
      </p:sp>
      <p:sp>
        <p:nvSpPr>
          <p:cNvPr id="3" name="コンテンツ プレースホルダー 2"/>
          <p:cNvSpPr>
            <a:spLocks noGrp="1"/>
          </p:cNvSpPr>
          <p:nvPr>
            <p:ph idx="1"/>
          </p:nvPr>
        </p:nvSpPr>
        <p:spPr>
          <a:xfrm>
            <a:off x="546706" y="2082211"/>
            <a:ext cx="8596668" cy="2777171"/>
          </a:xfrm>
        </p:spPr>
        <p:txBody>
          <a:bodyPr>
            <a:normAutofit/>
          </a:bodyPr>
          <a:lstStyle/>
          <a:p>
            <a:r>
              <a:rPr lang="en-US" altLang="ja-JP" dirty="0" smtClean="0"/>
              <a:t>Thrust</a:t>
            </a:r>
            <a:r>
              <a:rPr lang="ja-JP" altLang="en-US" dirty="0" smtClean="0"/>
              <a:t>というのは</a:t>
            </a:r>
            <a:r>
              <a:rPr lang="en-US" altLang="ja-JP" dirty="0" smtClean="0"/>
              <a:t>NVIDI</a:t>
            </a:r>
            <a:r>
              <a:rPr lang="en-US" altLang="ja-JP" dirty="0"/>
              <a:t>A</a:t>
            </a:r>
            <a:r>
              <a:rPr lang="ja-JP" altLang="en-US" dirty="0" err="1" smtClean="0"/>
              <a:t>に提</a:t>
            </a:r>
            <a:r>
              <a:rPr lang="ja-JP" altLang="en-US" dirty="0" smtClean="0"/>
              <a:t>供されている並列アルゴリズムライブラリーである。</a:t>
            </a:r>
            <a:endParaRPr lang="en-US" altLang="ja-JP" dirty="0" smtClean="0"/>
          </a:p>
          <a:p>
            <a:r>
              <a:rPr kumimoji="1" lang="en-US" altLang="ja-JP" dirty="0" smtClean="0"/>
              <a:t>STL</a:t>
            </a:r>
            <a:r>
              <a:rPr kumimoji="1" lang="ja-JP" altLang="en-US" dirty="0" smtClean="0"/>
              <a:t>に</a:t>
            </a:r>
            <a:r>
              <a:rPr lang="ja-JP" altLang="en-US" dirty="0" smtClean="0"/>
              <a:t>相当するようなライブラリーなので、</a:t>
            </a:r>
            <a:r>
              <a:rPr lang="en-US" altLang="ja-JP" dirty="0" smtClean="0"/>
              <a:t>STL</a:t>
            </a:r>
            <a:r>
              <a:rPr lang="ja-JP" altLang="en-US" dirty="0" smtClean="0"/>
              <a:t>に</a:t>
            </a:r>
            <a:r>
              <a:rPr kumimoji="1" lang="ja-JP" altLang="en-US" dirty="0" smtClean="0"/>
              <a:t>馴染んでいる方は、すぐ使えるようになる。</a:t>
            </a:r>
            <a:endParaRPr kumimoji="1" lang="en-US" altLang="ja-JP" dirty="0" smtClean="0"/>
          </a:p>
          <a:p>
            <a:r>
              <a:rPr kumimoji="1" lang="ja-JP" altLang="en-US" dirty="0" smtClean="0"/>
              <a:t>基本的には系列ごとの値をとるための「</a:t>
            </a:r>
            <a:r>
              <a:rPr kumimoji="1" lang="en-US" altLang="ja-JP" b="1" dirty="0" err="1" smtClean="0"/>
              <a:t>reduce_by_key</a:t>
            </a:r>
            <a:r>
              <a:rPr kumimoji="1" lang="ja-JP" altLang="en-US" dirty="0" smtClean="0"/>
              <a:t>」若しくは各</a:t>
            </a:r>
            <a:r>
              <a:rPr lang="ja-JP" altLang="en-US" dirty="0" smtClean="0"/>
              <a:t>要素を加工するための「</a:t>
            </a:r>
            <a:r>
              <a:rPr lang="en-US" altLang="ja-JP" b="1" dirty="0" smtClean="0"/>
              <a:t>transform</a:t>
            </a:r>
            <a:r>
              <a:rPr lang="ja-JP" altLang="en-US" dirty="0" smtClean="0"/>
              <a:t>」という関数を使う。</a:t>
            </a:r>
            <a:endParaRPr lang="en-US" altLang="ja-JP" dirty="0" smtClean="0"/>
          </a:p>
          <a:p>
            <a:r>
              <a:rPr kumimoji="1" lang="ja-JP" altLang="en-US" dirty="0" smtClean="0"/>
              <a:t>複数系列を一気に処理するため、多少工夫が必要となる。</a:t>
            </a:r>
            <a:endParaRPr kumimoji="1" lang="en-US" altLang="ja-JP" dirty="0" smtClean="0"/>
          </a:p>
        </p:txBody>
      </p:sp>
    </p:spTree>
    <p:extLst>
      <p:ext uri="{BB962C8B-B14F-4D97-AF65-F5344CB8AC3E}">
        <p14:creationId xmlns:p14="http://schemas.microsoft.com/office/powerpoint/2010/main" val="268145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77334" y="609600"/>
            <a:ext cx="6481112" cy="957943"/>
          </a:xfrm>
        </p:spPr>
        <p:txBody>
          <a:bodyPr>
            <a:normAutofit/>
          </a:bodyPr>
          <a:lstStyle/>
          <a:p>
            <a:r>
              <a:rPr kumimoji="1" lang="ja-JP" altLang="en-US" sz="3200" b="1" dirty="0" smtClean="0"/>
              <a:t>スピアマンの順位相関（定義）</a:t>
            </a:r>
            <a:endParaRPr kumimoji="1" lang="ja-JP" altLang="en-US" sz="3200" b="1" dirty="0"/>
          </a:p>
        </p:txBody>
      </p:sp>
      <mc:AlternateContent xmlns:mc="http://schemas.openxmlformats.org/markup-compatibility/2006">
        <mc:Choice xmlns:a14="http://schemas.microsoft.com/office/drawing/2010/main" Requires="a14">
          <p:sp>
            <p:nvSpPr>
              <p:cNvPr id="3" name="コンテンツ プレースホルダー 2"/>
              <p:cNvSpPr>
                <a:spLocks noGrp="1"/>
              </p:cNvSpPr>
              <p:nvPr>
                <p:ph idx="1"/>
              </p:nvPr>
            </p:nvSpPr>
            <p:spPr>
              <a:xfrm>
                <a:off x="576369" y="1791638"/>
                <a:ext cx="8084306" cy="1026406"/>
              </a:xfrm>
            </p:spPr>
            <p:txBody>
              <a:bodyPr/>
              <a:lstStyle/>
              <a:p>
                <a:pPr marL="0" indent="0">
                  <a:buNone/>
                </a:pPr>
                <a14:m>
                  <m:oMathPara xmlns:m="http://schemas.openxmlformats.org/officeDocument/2006/math">
                    <m:oMathParaPr>
                      <m:jc m:val="centerGroup"/>
                    </m:oMathParaPr>
                    <m:oMath xmlns:m="http://schemas.openxmlformats.org/officeDocument/2006/math">
                      <m:r>
                        <a:rPr lang="en-US" altLang="ja-JP" sz="3600" b="0" i="1" smtClean="0">
                          <a:latin typeface="Cambria Math" panose="02040503050406030204" pitchFamily="18" charset="0"/>
                        </a:rPr>
                        <m:t>𝑟</m:t>
                      </m:r>
                      <m:r>
                        <a:rPr lang="en-US" altLang="ja-JP" sz="3600" b="0" i="1" baseline="-25000" smtClean="0">
                          <a:latin typeface="Cambria Math" panose="02040503050406030204" pitchFamily="18" charset="0"/>
                        </a:rPr>
                        <m:t>𝑠</m:t>
                      </m:r>
                      <m:r>
                        <a:rPr lang="en-US" altLang="ja-JP" sz="3600" i="1">
                          <a:latin typeface="Cambria Math" panose="02040503050406030204" pitchFamily="18" charset="0"/>
                          <a:ea typeface="Cambria Math" panose="02040503050406030204" pitchFamily="18" charset="0"/>
                        </a:rPr>
                        <m:t>=</m:t>
                      </m:r>
                      <m:r>
                        <a:rPr lang="en-US" altLang="ja-JP" sz="3600" b="0" i="1" smtClean="0">
                          <a:latin typeface="Cambria Math" panose="02040503050406030204" pitchFamily="18" charset="0"/>
                          <a:ea typeface="Cambria Math" panose="02040503050406030204" pitchFamily="18" charset="0"/>
                        </a:rPr>
                        <m:t>𝑝</m:t>
                      </m:r>
                      <m:r>
                        <m:rPr>
                          <m:sty m:val="p"/>
                        </m:rPr>
                        <a:rPr lang="en-US" altLang="ja-JP" sz="3600" b="0" i="0" baseline="-25000" smtClean="0">
                          <a:latin typeface="Cambria Math" panose="02040503050406030204" pitchFamily="18" charset="0"/>
                          <a:ea typeface="Cambria Math" panose="02040503050406030204" pitchFamily="18" charset="0"/>
                        </a:rPr>
                        <m:t>rg</m:t>
                      </m:r>
                      <m:r>
                        <a:rPr lang="en-US" altLang="ja-JP" sz="3600" b="0" i="1" baseline="-50000" smtClean="0">
                          <a:latin typeface="Cambria Math" panose="02040503050406030204" pitchFamily="18" charset="0"/>
                          <a:ea typeface="Cambria Math" panose="02040503050406030204" pitchFamily="18" charset="0"/>
                        </a:rPr>
                        <m:t>𝑋</m:t>
                      </m:r>
                      <m:r>
                        <a:rPr lang="en-US" altLang="ja-JP" sz="3600" b="0" i="0" baseline="-25000" smtClean="0">
                          <a:latin typeface="Cambria Math" panose="02040503050406030204" pitchFamily="18" charset="0"/>
                          <a:ea typeface="Cambria Math" panose="02040503050406030204" pitchFamily="18" charset="0"/>
                        </a:rPr>
                        <m:t>,</m:t>
                      </m:r>
                      <m:r>
                        <m:rPr>
                          <m:sty m:val="p"/>
                        </m:rPr>
                        <a:rPr lang="en-US" altLang="ja-JP" sz="3600" baseline="-25000">
                          <a:latin typeface="Cambria Math" panose="02040503050406030204" pitchFamily="18" charset="0"/>
                          <a:ea typeface="Cambria Math" panose="02040503050406030204" pitchFamily="18" charset="0"/>
                        </a:rPr>
                        <m:t>rg</m:t>
                      </m:r>
                      <m:r>
                        <a:rPr lang="en-US" altLang="ja-JP" sz="3600" b="0" i="1" baseline="-50000" smtClean="0">
                          <a:latin typeface="Cambria Math" panose="02040503050406030204" pitchFamily="18" charset="0"/>
                          <a:ea typeface="Cambria Math" panose="02040503050406030204" pitchFamily="18" charset="0"/>
                        </a:rPr>
                        <m:t>𝑌</m:t>
                      </m:r>
                    </m:oMath>
                  </m:oMathPara>
                </a14:m>
                <a:endParaRPr kumimoji="1" lang="ja-JP" altLang="en-US" sz="3600" dirty="0"/>
              </a:p>
            </p:txBody>
          </p:sp>
        </mc:Choice>
        <mc:Fallback>
          <p:sp>
            <p:nvSpPr>
              <p:cNvPr id="3" name="コンテンツ プレースホルダー 2"/>
              <p:cNvSpPr>
                <a:spLocks noGrp="1" noRot="1" noChangeAspect="1" noMove="1" noResize="1" noEditPoints="1" noAdjustHandles="1" noChangeArrowheads="1" noChangeShapeType="1" noTextEdit="1"/>
              </p:cNvSpPr>
              <p:nvPr>
                <p:ph idx="1"/>
              </p:nvPr>
            </p:nvSpPr>
            <p:spPr>
              <a:xfrm>
                <a:off x="576369" y="1791638"/>
                <a:ext cx="8084306" cy="1026406"/>
              </a:xfrm>
              <a:blipFill>
                <a:blip r:embed="rId2"/>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 name="コンテンツ プレースホルダー 2"/>
              <p:cNvSpPr txBox="1">
                <a:spLocks/>
              </p:cNvSpPr>
              <p:nvPr/>
            </p:nvSpPr>
            <p:spPr>
              <a:xfrm>
                <a:off x="458802" y="3042139"/>
                <a:ext cx="9181587" cy="261131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kumimoji="1"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kumimoji="1" sz="1200" kern="1200" baseline="0">
                    <a:solidFill>
                      <a:schemeClr val="tx1"/>
                    </a:solidFill>
                    <a:effectLst/>
                    <a:latin typeface="+mn-lt"/>
                    <a:ea typeface="+mn-ea"/>
                    <a:cs typeface="+mn-cs"/>
                  </a:defRPr>
                </a:lvl9pPr>
              </a:lstStyle>
              <a:p>
                <a14:m>
                  <m:oMath xmlns:m="http://schemas.openxmlformats.org/officeDocument/2006/math">
                    <m:r>
                      <a:rPr lang="en-US" altLang="ja-JP" i="1" smtClean="0">
                        <a:latin typeface="Cambria Math" panose="02040503050406030204" pitchFamily="18" charset="0"/>
                        <a:ea typeface="Cambria Math" panose="02040503050406030204" pitchFamily="18" charset="0"/>
                      </a:rPr>
                      <m:t>𝑋</m:t>
                    </m:r>
                    <m:r>
                      <a:rPr lang="en-US" altLang="ja-JP" i="1" smtClean="0">
                        <a:latin typeface="Cambria Math" panose="02040503050406030204" pitchFamily="18" charset="0"/>
                        <a:ea typeface="Cambria Math" panose="02040503050406030204" pitchFamily="18" charset="0"/>
                      </a:rPr>
                      <m:t> と</m:t>
                    </m:r>
                    <m:r>
                      <a:rPr lang="en-US" altLang="ja-JP" i="1">
                        <a:latin typeface="Cambria Math" panose="02040503050406030204" pitchFamily="18" charset="0"/>
                        <a:ea typeface="Cambria Math" panose="02040503050406030204" pitchFamily="18" charset="0"/>
                      </a:rPr>
                      <m:t>𝑌</m:t>
                    </m:r>
                  </m:oMath>
                </a14:m>
                <a:r>
                  <a:rPr lang="ja-JP" altLang="en-US" dirty="0" smtClean="0"/>
                  <a:t>は系列を示す。</a:t>
                </a:r>
                <a:endParaRPr lang="en-US" altLang="ja-JP" i="1" dirty="0" smtClean="0">
                  <a:latin typeface="Cambria Math" panose="02040503050406030204" pitchFamily="18" charset="0"/>
                  <a:ea typeface="Cambria Math" panose="02040503050406030204" pitchFamily="18" charset="0"/>
                </a:endParaRPr>
              </a:p>
              <a:p>
                <a14:m>
                  <m:oMath xmlns:m="http://schemas.openxmlformats.org/officeDocument/2006/math">
                    <m:r>
                      <a:rPr lang="ja-JP" altLang="en-US" i="1" dirty="0">
                        <a:latin typeface="Cambria Math" panose="02040503050406030204" pitchFamily="18" charset="0"/>
                        <a:ea typeface="Cambria Math" panose="02040503050406030204" pitchFamily="18" charset="0"/>
                      </a:rPr>
                      <m:t>「</m:t>
                    </m:r>
                    <m:r>
                      <m:rPr>
                        <m:sty m:val="p"/>
                      </m:rPr>
                      <a:rPr lang="en-US" altLang="ja-JP">
                        <a:latin typeface="Cambria Math" panose="02040503050406030204" pitchFamily="18" charset="0"/>
                        <a:ea typeface="Cambria Math" panose="02040503050406030204" pitchFamily="18" charset="0"/>
                      </a:rPr>
                      <m:t>rg</m:t>
                    </m:r>
                    <m:r>
                      <a:rPr lang="en-US" altLang="ja-JP" i="1" baseline="-25000">
                        <a:latin typeface="Cambria Math" panose="02040503050406030204" pitchFamily="18" charset="0"/>
                        <a:ea typeface="Cambria Math" panose="02040503050406030204" pitchFamily="18" charset="0"/>
                      </a:rPr>
                      <m:t>𝑋</m:t>
                    </m:r>
                    <m:r>
                      <a:rPr lang="ja-JP" altLang="en-US" i="1" baseline="-25000" smtClean="0">
                        <a:latin typeface="Cambria Math" panose="02040503050406030204" pitchFamily="18" charset="0"/>
                        <a:ea typeface="Cambria Math" panose="02040503050406030204" pitchFamily="18" charset="0"/>
                      </a:rPr>
                      <m:t>」</m:t>
                    </m:r>
                  </m:oMath>
                </a14:m>
                <a:r>
                  <a:rPr lang="ja-JP" altLang="en-US" dirty="0" smtClean="0">
                    <a:latin typeface="Cambria Math" panose="02040503050406030204" pitchFamily="18" charset="0"/>
                  </a:rPr>
                  <a:t>は順位付けされた</a:t>
                </a:r>
                <a14:m>
                  <m:oMath xmlns:m="http://schemas.openxmlformats.org/officeDocument/2006/math">
                    <m:r>
                      <a:rPr lang="ja-JP" altLang="en-US" i="1" dirty="0">
                        <a:latin typeface="Cambria Math" panose="02040503050406030204" pitchFamily="18" charset="0"/>
                        <a:ea typeface="Cambria Math" panose="02040503050406030204" pitchFamily="18" charset="0"/>
                      </a:rPr>
                      <m:t>「</m:t>
                    </m:r>
                    <m:r>
                      <a:rPr lang="en-US" altLang="ja-JP" i="1">
                        <a:latin typeface="Cambria Math" panose="02040503050406030204" pitchFamily="18" charset="0"/>
                        <a:ea typeface="Cambria Math" panose="02040503050406030204" pitchFamily="18" charset="0"/>
                      </a:rPr>
                      <m:t>𝑋</m:t>
                    </m:r>
                  </m:oMath>
                </a14:m>
                <a:r>
                  <a:rPr lang="ja-JP" altLang="en-US" dirty="0" smtClean="0">
                    <a:latin typeface="Cambria Math" panose="02040503050406030204" pitchFamily="18" charset="0"/>
                  </a:rPr>
                  <a:t>」系列となる。</a:t>
                </a:r>
                <a:endParaRPr lang="en-US" altLang="ja-JP" dirty="0" smtClean="0">
                  <a:latin typeface="Cambria Math" panose="02040503050406030204" pitchFamily="18" charset="0"/>
                </a:endParaRPr>
              </a:p>
              <a:p>
                <a:r>
                  <a:rPr lang="ja-JP" altLang="en-US" dirty="0" smtClean="0">
                    <a:latin typeface="Cambria Math" panose="02040503050406030204" pitchFamily="18" charset="0"/>
                  </a:rPr>
                  <a:t>スピアマン順位相関はランク付けされたデータに対してのピアソン積率相関である。</a:t>
                </a:r>
                <a:endParaRPr lang="en-US" altLang="ja-JP" dirty="0" smtClean="0">
                  <a:latin typeface="Cambria Math" panose="02040503050406030204" pitchFamily="18" charset="0"/>
                </a:endParaRPr>
              </a:p>
              <a:p>
                <a:r>
                  <a:rPr lang="ja-JP" altLang="en-US" dirty="0" smtClean="0">
                    <a:latin typeface="Cambria Math" panose="02040503050406030204" pitchFamily="18" charset="0"/>
                  </a:rPr>
                  <a:t>系列ごとにランク付けをし、ピアソン積率相関を取得すれば、計算が完了になる。</a:t>
                </a:r>
                <a:endParaRPr lang="en-US" altLang="ja-JP" dirty="0" smtClean="0">
                  <a:latin typeface="Cambria Math" panose="02040503050406030204" pitchFamily="18" charset="0"/>
                </a:endParaRPr>
              </a:p>
              <a:p>
                <a:pPr marL="0" indent="0">
                  <a:buNone/>
                </a:pPr>
                <a:endParaRPr lang="en-US" altLang="ja-JP" baseline="-25000" dirty="0" smtClean="0">
                  <a:latin typeface="Cambria Math" panose="02040503050406030204" pitchFamily="18" charset="0"/>
                </a:endParaRPr>
              </a:p>
            </p:txBody>
          </p:sp>
        </mc:Choice>
        <mc:Fallback>
          <p:sp>
            <p:nvSpPr>
              <p:cNvPr id="4" name="コンテンツ プレースホルダー 2"/>
              <p:cNvSpPr txBox="1">
                <a:spLocks noRot="1" noChangeAspect="1" noMove="1" noResize="1" noEditPoints="1" noAdjustHandles="1" noChangeArrowheads="1" noChangeShapeType="1" noTextEdit="1"/>
              </p:cNvSpPr>
              <p:nvPr/>
            </p:nvSpPr>
            <p:spPr>
              <a:xfrm>
                <a:off x="458802" y="3042139"/>
                <a:ext cx="9181587" cy="2611315"/>
              </a:xfrm>
              <a:prstGeom prst="rect">
                <a:avLst/>
              </a:prstGeom>
              <a:blipFill>
                <a:blip r:embed="rId3"/>
                <a:stretch>
                  <a:fillRect l="-598" t="-7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28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77334" y="609600"/>
            <a:ext cx="6415797" cy="971006"/>
          </a:xfrm>
        </p:spPr>
        <p:txBody>
          <a:bodyPr>
            <a:normAutofit/>
          </a:bodyPr>
          <a:lstStyle/>
          <a:p>
            <a:r>
              <a:rPr kumimoji="1" lang="ja-JP" altLang="en-US" sz="3200" b="1" dirty="0" smtClean="0"/>
              <a:t>順位付けアルゴリズム（</a:t>
            </a:r>
            <a:r>
              <a:rPr lang="ja-JP" altLang="en-US" sz="3200" b="1" dirty="0"/>
              <a:t>概念</a:t>
            </a:r>
            <a:r>
              <a:rPr kumimoji="1" lang="ja-JP" altLang="en-US" sz="3200" b="1" dirty="0" smtClean="0"/>
              <a:t>）</a:t>
            </a:r>
            <a:endParaRPr kumimoji="1" lang="ja-JP" altLang="en-US" sz="3200" b="1" dirty="0"/>
          </a:p>
        </p:txBody>
      </p:sp>
      <p:graphicFrame>
        <p:nvGraphicFramePr>
          <p:cNvPr id="4" name="表 3"/>
          <p:cNvGraphicFramePr>
            <a:graphicFrameLocks noGrp="1"/>
          </p:cNvGraphicFramePr>
          <p:nvPr>
            <p:extLst>
              <p:ext uri="{D42A27DB-BD31-4B8C-83A1-F6EECF244321}">
                <p14:modId xmlns:p14="http://schemas.microsoft.com/office/powerpoint/2010/main" val="1527514978"/>
              </p:ext>
            </p:extLst>
          </p:nvPr>
        </p:nvGraphicFramePr>
        <p:xfrm>
          <a:off x="842606" y="2515158"/>
          <a:ext cx="691854" cy="2578339"/>
        </p:xfrm>
        <a:graphic>
          <a:graphicData uri="http://schemas.openxmlformats.org/drawingml/2006/table">
            <a:tbl>
              <a:tblPr firstRow="1" bandRow="1">
                <a:tableStyleId>{5C22544A-7EE6-4342-B048-85BDC9FD1C3A}</a:tableStyleId>
              </a:tblPr>
              <a:tblGrid>
                <a:gridCol w="691854">
                  <a:extLst>
                    <a:ext uri="{9D8B030D-6E8A-4147-A177-3AD203B41FA5}">
                      <a16:colId xmlns:a16="http://schemas.microsoft.com/office/drawing/2014/main" val="2244248725"/>
                    </a:ext>
                  </a:extLst>
                </a:gridCol>
              </a:tblGrid>
              <a:tr h="383779">
                <a:tc>
                  <a:txBody>
                    <a:bodyPr/>
                    <a:lstStyle/>
                    <a:p>
                      <a:pPr algn="ctr"/>
                      <a:r>
                        <a:rPr kumimoji="1" lang="ja-JP" altLang="en-US" dirty="0" smtClean="0">
                          <a:latin typeface="Cambria Math" panose="02040503050406030204" pitchFamily="18" charset="0"/>
                        </a:rPr>
                        <a:t>値</a:t>
                      </a:r>
                      <a:endParaRPr kumimoji="1" lang="en-US" altLang="ja-JP" baseline="-25000" dirty="0" smtClean="0">
                        <a:latin typeface="Cambria Math" panose="02040503050406030204" pitchFamily="18" charset="0"/>
                        <a:ea typeface="Cambria Math" panose="02040503050406030204" pitchFamily="18" charset="0"/>
                      </a:endParaRPr>
                    </a:p>
                  </a:txBody>
                  <a:tcPr anchor="ctr"/>
                </a:tc>
                <a:extLst>
                  <a:ext uri="{0D108BD9-81ED-4DB2-BD59-A6C34878D82A}">
                    <a16:rowId xmlns:a16="http://schemas.microsoft.com/office/drawing/2014/main" val="929333590"/>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1.5</a:t>
                      </a:r>
                    </a:p>
                  </a:txBody>
                  <a:tcPr anchor="ctr"/>
                </a:tc>
                <a:extLst>
                  <a:ext uri="{0D108BD9-81ED-4DB2-BD59-A6C34878D82A}">
                    <a16:rowId xmlns:a16="http://schemas.microsoft.com/office/drawing/2014/main" val="3524726131"/>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0.5</a:t>
                      </a:r>
                    </a:p>
                  </a:txBody>
                  <a:tcPr anchor="ctr"/>
                </a:tc>
                <a:extLst>
                  <a:ext uri="{0D108BD9-81ED-4DB2-BD59-A6C34878D82A}">
                    <a16:rowId xmlns:a16="http://schemas.microsoft.com/office/drawing/2014/main" val="3397445786"/>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-1.2</a:t>
                      </a:r>
                    </a:p>
                  </a:txBody>
                  <a:tcPr anchor="ctr"/>
                </a:tc>
                <a:extLst>
                  <a:ext uri="{0D108BD9-81ED-4DB2-BD59-A6C34878D82A}">
                    <a16:rowId xmlns:a16="http://schemas.microsoft.com/office/drawing/2014/main" val="1910763807"/>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0.5</a:t>
                      </a:r>
                    </a:p>
                  </a:txBody>
                  <a:tcPr anchor="ctr"/>
                </a:tc>
                <a:extLst>
                  <a:ext uri="{0D108BD9-81ED-4DB2-BD59-A6C34878D82A}">
                    <a16:rowId xmlns:a16="http://schemas.microsoft.com/office/drawing/2014/main" val="2798732008"/>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3</a:t>
                      </a:r>
                    </a:p>
                  </a:txBody>
                  <a:tcPr anchor="ctr"/>
                </a:tc>
                <a:extLst>
                  <a:ext uri="{0D108BD9-81ED-4DB2-BD59-A6C34878D82A}">
                    <a16:rowId xmlns:a16="http://schemas.microsoft.com/office/drawing/2014/main" val="3423380194"/>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4</a:t>
                      </a:r>
                    </a:p>
                  </a:txBody>
                  <a:tcPr anchor="ctr"/>
                </a:tc>
                <a:extLst>
                  <a:ext uri="{0D108BD9-81ED-4DB2-BD59-A6C34878D82A}">
                    <a16:rowId xmlns:a16="http://schemas.microsoft.com/office/drawing/2014/main" val="921537114"/>
                  </a:ext>
                </a:extLst>
              </a:tr>
            </a:tbl>
          </a:graphicData>
        </a:graphic>
      </p:graphicFrame>
      <p:sp>
        <p:nvSpPr>
          <p:cNvPr id="5" name="テキスト ボックス 4"/>
          <p:cNvSpPr txBox="1"/>
          <p:nvPr/>
        </p:nvSpPr>
        <p:spPr>
          <a:xfrm>
            <a:off x="814356" y="2086415"/>
            <a:ext cx="646331" cy="369332"/>
          </a:xfrm>
          <a:prstGeom prst="rect">
            <a:avLst/>
          </a:prstGeom>
          <a:noFill/>
        </p:spPr>
        <p:txBody>
          <a:bodyPr wrap="none" rtlCol="0">
            <a:spAutoFit/>
          </a:bodyPr>
          <a:lstStyle/>
          <a:p>
            <a:r>
              <a:rPr kumimoji="1" lang="ja-JP" altLang="en-US" dirty="0" smtClean="0"/>
              <a:t>系列</a:t>
            </a:r>
            <a:endParaRPr kumimoji="1" lang="ja-JP" altLang="en-US" dirty="0"/>
          </a:p>
        </p:txBody>
      </p:sp>
      <p:sp>
        <p:nvSpPr>
          <p:cNvPr id="6" name="右矢印 5"/>
          <p:cNvSpPr/>
          <p:nvPr/>
        </p:nvSpPr>
        <p:spPr>
          <a:xfrm>
            <a:off x="1676707" y="3508712"/>
            <a:ext cx="665603" cy="5080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p:cNvGraphicFramePr>
            <a:graphicFrameLocks noGrp="1"/>
          </p:cNvGraphicFramePr>
          <p:nvPr>
            <p:extLst>
              <p:ext uri="{D42A27DB-BD31-4B8C-83A1-F6EECF244321}">
                <p14:modId xmlns:p14="http://schemas.microsoft.com/office/powerpoint/2010/main" val="3000516230"/>
              </p:ext>
            </p:extLst>
          </p:nvPr>
        </p:nvGraphicFramePr>
        <p:xfrm>
          <a:off x="2484557" y="2175999"/>
          <a:ext cx="4440108" cy="3152922"/>
        </p:xfrm>
        <a:graphic>
          <a:graphicData uri="http://schemas.openxmlformats.org/drawingml/2006/table">
            <a:tbl>
              <a:tblPr firstRow="1" bandRow="1">
                <a:tableStyleId>{5C22544A-7EE6-4342-B048-85BDC9FD1C3A}</a:tableStyleId>
              </a:tblPr>
              <a:tblGrid>
                <a:gridCol w="669723">
                  <a:extLst>
                    <a:ext uri="{9D8B030D-6E8A-4147-A177-3AD203B41FA5}">
                      <a16:colId xmlns:a16="http://schemas.microsoft.com/office/drawing/2014/main" val="2244248725"/>
                    </a:ext>
                  </a:extLst>
                </a:gridCol>
                <a:gridCol w="1811215">
                  <a:extLst>
                    <a:ext uri="{9D8B030D-6E8A-4147-A177-3AD203B41FA5}">
                      <a16:colId xmlns:a16="http://schemas.microsoft.com/office/drawing/2014/main" val="634741775"/>
                    </a:ext>
                  </a:extLst>
                </a:gridCol>
                <a:gridCol w="1959170">
                  <a:extLst>
                    <a:ext uri="{9D8B030D-6E8A-4147-A177-3AD203B41FA5}">
                      <a16:colId xmlns:a16="http://schemas.microsoft.com/office/drawing/2014/main" val="2573115785"/>
                    </a:ext>
                  </a:extLst>
                </a:gridCol>
              </a:tblGrid>
              <a:tr h="958362">
                <a:tc>
                  <a:txBody>
                    <a:bodyPr/>
                    <a:lstStyle/>
                    <a:p>
                      <a:pPr algn="ctr"/>
                      <a:r>
                        <a:rPr kumimoji="1" lang="ja-JP" altLang="en-US" dirty="0" smtClean="0">
                          <a:latin typeface="Cambria Math" panose="02040503050406030204" pitchFamily="18" charset="0"/>
                        </a:rPr>
                        <a:t>値</a:t>
                      </a:r>
                      <a:endParaRPr kumimoji="1" lang="en-US" altLang="ja-JP" baseline="-25000" dirty="0" smtClean="0">
                        <a:latin typeface="Cambria Math" panose="02040503050406030204" pitchFamily="18" charset="0"/>
                        <a:ea typeface="Cambria Math" panose="020405030504060302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baseline="0" dirty="0" smtClean="0">
                          <a:latin typeface="Cambria Math" panose="02040503050406030204" pitchFamily="18" charset="0"/>
                        </a:rPr>
                        <a:t>値の最初の出現の添え字</a:t>
                      </a:r>
                      <a:endParaRPr kumimoji="1" lang="en-US" altLang="ja-JP" baseline="-25000" dirty="0" smtClean="0">
                        <a:latin typeface="Cambria Math" panose="02040503050406030204" pitchFamily="18" charset="0"/>
                        <a:ea typeface="Cambria Math" panose="02040503050406030204" pitchFamily="18" charset="0"/>
                      </a:endParaRPr>
                    </a:p>
                    <a:p>
                      <a:pPr algn="ctr"/>
                      <a:r>
                        <a:rPr kumimoji="1" lang="en-US" altLang="ja-JP" baseline="-25000" dirty="0" smtClean="0">
                          <a:latin typeface="Cambria Math" panose="02040503050406030204" pitchFamily="18" charset="0"/>
                          <a:ea typeface="Cambria Math" panose="02040503050406030204" pitchFamily="18" charset="0"/>
                        </a:rPr>
                        <a:t>(</a:t>
                      </a:r>
                      <a:r>
                        <a:rPr kumimoji="1" lang="en-US" altLang="ja-JP" baseline="-25000" dirty="0" err="1" smtClean="0">
                          <a:latin typeface="Cambria Math" panose="02040503050406030204" pitchFamily="18" charset="0"/>
                          <a:ea typeface="Cambria Math" panose="02040503050406030204" pitchFamily="18" charset="0"/>
                        </a:rPr>
                        <a:t>lower_bound</a:t>
                      </a:r>
                      <a:r>
                        <a:rPr kumimoji="1" lang="en-US" altLang="ja-JP" baseline="-25000" dirty="0" smtClean="0">
                          <a:latin typeface="Cambria Math" panose="02040503050406030204" pitchFamily="18" charset="0"/>
                          <a:ea typeface="Cambria Math" panose="02040503050406030204" pitchFamily="18" charset="0"/>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baseline="0" dirty="0" smtClean="0">
                          <a:latin typeface="Cambria Math" panose="02040503050406030204" pitchFamily="18" charset="0"/>
                        </a:rPr>
                        <a:t>値の最後の出現の次の添え字</a:t>
                      </a:r>
                      <a:endParaRPr kumimoji="1" lang="en-US" altLang="ja-JP" baseline="-25000" dirty="0" smtClean="0">
                        <a:latin typeface="Cambria Math" panose="02040503050406030204" pitchFamily="18" charset="0"/>
                        <a:ea typeface="Cambria Math" panose="02040503050406030204" pitchFamily="18" charset="0"/>
                      </a:endParaRPr>
                    </a:p>
                    <a:p>
                      <a:pPr algn="ctr"/>
                      <a:r>
                        <a:rPr kumimoji="1" lang="en-US" altLang="ja-JP" baseline="-25000" dirty="0" smtClean="0">
                          <a:latin typeface="Cambria Math" panose="02040503050406030204" pitchFamily="18" charset="0"/>
                          <a:ea typeface="Cambria Math" panose="02040503050406030204" pitchFamily="18" charset="0"/>
                        </a:rPr>
                        <a:t>(</a:t>
                      </a:r>
                      <a:r>
                        <a:rPr kumimoji="1" lang="en-US" altLang="ja-JP" baseline="-25000" dirty="0" err="1" smtClean="0">
                          <a:latin typeface="Cambria Math" panose="02040503050406030204" pitchFamily="18" charset="0"/>
                          <a:ea typeface="Cambria Math" panose="02040503050406030204" pitchFamily="18" charset="0"/>
                        </a:rPr>
                        <a:t>upper_bound</a:t>
                      </a:r>
                      <a:r>
                        <a:rPr kumimoji="1" lang="en-US" altLang="ja-JP" baseline="-25000" dirty="0" smtClean="0">
                          <a:latin typeface="Cambria Math" panose="02040503050406030204" pitchFamily="18" charset="0"/>
                          <a:ea typeface="Cambria Math" panose="02040503050406030204" pitchFamily="18" charset="0"/>
                        </a:rPr>
                        <a:t>)</a:t>
                      </a:r>
                    </a:p>
                  </a:txBody>
                  <a:tcPr anchor="ctr"/>
                </a:tc>
                <a:extLst>
                  <a:ext uri="{0D108BD9-81ED-4DB2-BD59-A6C34878D82A}">
                    <a16:rowId xmlns:a16="http://schemas.microsoft.com/office/drawing/2014/main" val="929333590"/>
                  </a:ext>
                </a:extLst>
              </a:tr>
              <a:tr h="3603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a:t>
                      </a:r>
                    </a:p>
                  </a:txBody>
                  <a:tcPr anchor="ctr"/>
                </a:tc>
                <a:extLst>
                  <a:ext uri="{0D108BD9-81ED-4DB2-BD59-A6C34878D82A}">
                    <a16:rowId xmlns:a16="http://schemas.microsoft.com/office/drawing/2014/main" val="3524726131"/>
                  </a:ext>
                </a:extLst>
              </a:tr>
              <a:tr h="3603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0.5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3</a:t>
                      </a:r>
                    </a:p>
                  </a:txBody>
                  <a:tcPr anchor="ctr"/>
                </a:tc>
                <a:extLst>
                  <a:ext uri="{0D108BD9-81ED-4DB2-BD59-A6C34878D82A}">
                    <a16:rowId xmlns:a16="http://schemas.microsoft.com/office/drawing/2014/main" val="3397445786"/>
                  </a:ext>
                </a:extLst>
              </a:tr>
              <a:tr h="3603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0.5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3</a:t>
                      </a:r>
                    </a:p>
                  </a:txBody>
                  <a:tcPr anchor="ctr"/>
                </a:tc>
                <a:extLst>
                  <a:ext uri="{0D108BD9-81ED-4DB2-BD59-A6C34878D82A}">
                    <a16:rowId xmlns:a16="http://schemas.microsoft.com/office/drawing/2014/main" val="1910763807"/>
                  </a:ext>
                </a:extLst>
              </a:tr>
              <a:tr h="3603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4</a:t>
                      </a:r>
                    </a:p>
                  </a:txBody>
                  <a:tcPr anchor="ctr"/>
                </a:tc>
                <a:extLst>
                  <a:ext uri="{0D108BD9-81ED-4DB2-BD59-A6C34878D82A}">
                    <a16:rowId xmlns:a16="http://schemas.microsoft.com/office/drawing/2014/main" val="2798732008"/>
                  </a:ext>
                </a:extLst>
              </a:tr>
              <a:tr h="3603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5</a:t>
                      </a:r>
                    </a:p>
                  </a:txBody>
                  <a:tcPr anchor="ctr"/>
                </a:tc>
                <a:extLst>
                  <a:ext uri="{0D108BD9-81ED-4DB2-BD59-A6C34878D82A}">
                    <a16:rowId xmlns:a16="http://schemas.microsoft.com/office/drawing/2014/main" val="3423380194"/>
                  </a:ext>
                </a:extLst>
              </a:tr>
              <a:tr h="3603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6</a:t>
                      </a:r>
                    </a:p>
                  </a:txBody>
                  <a:tcPr anchor="ctr"/>
                </a:tc>
                <a:extLst>
                  <a:ext uri="{0D108BD9-81ED-4DB2-BD59-A6C34878D82A}">
                    <a16:rowId xmlns:a16="http://schemas.microsoft.com/office/drawing/2014/main" val="921537114"/>
                  </a:ext>
                </a:extLst>
              </a:tr>
            </a:tbl>
          </a:graphicData>
        </a:graphic>
      </p:graphicFrame>
      <p:graphicFrame>
        <p:nvGraphicFramePr>
          <p:cNvPr id="14" name="表 13"/>
          <p:cNvGraphicFramePr>
            <a:graphicFrameLocks noGrp="1"/>
          </p:cNvGraphicFramePr>
          <p:nvPr>
            <p:extLst>
              <p:ext uri="{D42A27DB-BD31-4B8C-83A1-F6EECF244321}">
                <p14:modId xmlns:p14="http://schemas.microsoft.com/office/powerpoint/2010/main" val="2586661932"/>
              </p:ext>
            </p:extLst>
          </p:nvPr>
        </p:nvGraphicFramePr>
        <p:xfrm>
          <a:off x="7874762" y="2515158"/>
          <a:ext cx="1550466" cy="2560939"/>
        </p:xfrm>
        <a:graphic>
          <a:graphicData uri="http://schemas.openxmlformats.org/drawingml/2006/table">
            <a:tbl>
              <a:tblPr firstRow="1" bandRow="1">
                <a:tableStyleId>{5C22544A-7EE6-4342-B048-85BDC9FD1C3A}</a:tableStyleId>
              </a:tblPr>
              <a:tblGrid>
                <a:gridCol w="775233">
                  <a:extLst>
                    <a:ext uri="{9D8B030D-6E8A-4147-A177-3AD203B41FA5}">
                      <a16:colId xmlns:a16="http://schemas.microsoft.com/office/drawing/2014/main" val="260816390"/>
                    </a:ext>
                  </a:extLst>
                </a:gridCol>
                <a:gridCol w="775233">
                  <a:extLst>
                    <a:ext uri="{9D8B030D-6E8A-4147-A177-3AD203B41FA5}">
                      <a16:colId xmlns:a16="http://schemas.microsoft.com/office/drawing/2014/main" val="2244248725"/>
                    </a:ext>
                  </a:extLst>
                </a:gridCol>
              </a:tblGrid>
              <a:tr h="366379">
                <a:tc>
                  <a:txBody>
                    <a:bodyPr/>
                    <a:lstStyle/>
                    <a:p>
                      <a:pPr algn="ctr"/>
                      <a:r>
                        <a:rPr kumimoji="1" lang="ja-JP" altLang="en-US" baseline="0" dirty="0" smtClean="0">
                          <a:latin typeface="Cambria Math" panose="02040503050406030204" pitchFamily="18" charset="0"/>
                        </a:rPr>
                        <a:t>添字</a:t>
                      </a:r>
                      <a:endParaRPr kumimoji="1" lang="en-US" altLang="ja-JP" baseline="-25000" dirty="0" smtClean="0">
                        <a:latin typeface="Cambria Math" panose="02040503050406030204" pitchFamily="18" charset="0"/>
                        <a:ea typeface="Cambria Math" panose="02040503050406030204" pitchFamily="18" charset="0"/>
                      </a:endParaRPr>
                    </a:p>
                  </a:txBody>
                  <a:tcPr anchor="ctr"/>
                </a:tc>
                <a:tc>
                  <a:txBody>
                    <a:bodyPr/>
                    <a:lstStyle/>
                    <a:p>
                      <a:pPr algn="ctr"/>
                      <a:r>
                        <a:rPr kumimoji="1" lang="ja-JP" altLang="en-US" dirty="0" smtClean="0">
                          <a:latin typeface="Cambria Math" panose="02040503050406030204" pitchFamily="18" charset="0"/>
                        </a:rPr>
                        <a:t>値</a:t>
                      </a:r>
                      <a:endParaRPr kumimoji="1" lang="en-US" altLang="ja-JP" baseline="-25000" dirty="0" smtClean="0">
                        <a:latin typeface="Cambria Math" panose="02040503050406030204" pitchFamily="18" charset="0"/>
                        <a:ea typeface="Cambria Math" panose="02040503050406030204" pitchFamily="18" charset="0"/>
                      </a:endParaRPr>
                    </a:p>
                  </a:txBody>
                  <a:tcPr anchor="ctr"/>
                </a:tc>
                <a:extLst>
                  <a:ext uri="{0D108BD9-81ED-4DB2-BD59-A6C34878D82A}">
                    <a16:rowId xmlns:a16="http://schemas.microsoft.com/office/drawing/2014/main" val="929333590"/>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a:t>
                      </a:r>
                    </a:p>
                  </a:txBody>
                  <a:tcPr anchor="ctr"/>
                </a:tc>
                <a:extLst>
                  <a:ext uri="{0D108BD9-81ED-4DB2-BD59-A6C34878D82A}">
                    <a16:rowId xmlns:a16="http://schemas.microsoft.com/office/drawing/2014/main" val="3524726131"/>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2.5</a:t>
                      </a:r>
                    </a:p>
                  </a:txBody>
                  <a:tcPr anchor="ctr"/>
                </a:tc>
                <a:extLst>
                  <a:ext uri="{0D108BD9-81ED-4DB2-BD59-A6C34878D82A}">
                    <a16:rowId xmlns:a16="http://schemas.microsoft.com/office/drawing/2014/main" val="3397445786"/>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2.5</a:t>
                      </a:r>
                    </a:p>
                  </a:txBody>
                  <a:tcPr anchor="ctr"/>
                </a:tc>
                <a:extLst>
                  <a:ext uri="{0D108BD9-81ED-4DB2-BD59-A6C34878D82A}">
                    <a16:rowId xmlns:a16="http://schemas.microsoft.com/office/drawing/2014/main" val="1910763807"/>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4</a:t>
                      </a:r>
                    </a:p>
                  </a:txBody>
                  <a:tcPr anchor="ctr"/>
                </a:tc>
                <a:extLst>
                  <a:ext uri="{0D108BD9-81ED-4DB2-BD59-A6C34878D82A}">
                    <a16:rowId xmlns:a16="http://schemas.microsoft.com/office/drawing/2014/main" val="2798732008"/>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5</a:t>
                      </a:r>
                    </a:p>
                  </a:txBody>
                  <a:tcPr anchor="ctr"/>
                </a:tc>
                <a:extLst>
                  <a:ext uri="{0D108BD9-81ED-4DB2-BD59-A6C34878D82A}">
                    <a16:rowId xmlns:a16="http://schemas.microsoft.com/office/drawing/2014/main" val="3423380194"/>
                  </a:ext>
                </a:extLst>
              </a:tr>
              <a:tr h="348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aseline="0" dirty="0" smtClean="0">
                          <a:latin typeface="Cambria Math" panose="02040503050406030204" pitchFamily="18" charset="0"/>
                          <a:ea typeface="Cambria Math" panose="02040503050406030204" pitchFamily="18" charset="0"/>
                        </a:rPr>
                        <a:t>6</a:t>
                      </a:r>
                    </a:p>
                  </a:txBody>
                  <a:tcPr anchor="ctr"/>
                </a:tc>
                <a:extLst>
                  <a:ext uri="{0D108BD9-81ED-4DB2-BD59-A6C34878D82A}">
                    <a16:rowId xmlns:a16="http://schemas.microsoft.com/office/drawing/2014/main" val="921537114"/>
                  </a:ext>
                </a:extLst>
              </a:tr>
            </a:tbl>
          </a:graphicData>
        </a:graphic>
      </p:graphicFrame>
      <p:sp>
        <p:nvSpPr>
          <p:cNvPr id="15" name="テキスト ボックス 14"/>
          <p:cNvSpPr txBox="1"/>
          <p:nvPr/>
        </p:nvSpPr>
        <p:spPr>
          <a:xfrm>
            <a:off x="8331746" y="2161362"/>
            <a:ext cx="646331" cy="369332"/>
          </a:xfrm>
          <a:prstGeom prst="rect">
            <a:avLst/>
          </a:prstGeom>
          <a:noFill/>
        </p:spPr>
        <p:txBody>
          <a:bodyPr wrap="none" rtlCol="0">
            <a:spAutoFit/>
          </a:bodyPr>
          <a:lstStyle/>
          <a:p>
            <a:r>
              <a:rPr kumimoji="1" lang="ja-JP" altLang="en-US" dirty="0"/>
              <a:t>結果</a:t>
            </a:r>
          </a:p>
        </p:txBody>
      </p:sp>
      <mc:AlternateContent xmlns:mc="http://schemas.openxmlformats.org/markup-compatibility/2006">
        <mc:Choice xmlns:a14="http://schemas.microsoft.com/office/drawing/2010/main" Requires="a14">
          <p:sp>
            <p:nvSpPr>
              <p:cNvPr id="16" name="テキスト ボックス 15"/>
              <p:cNvSpPr txBox="1"/>
              <p:nvPr/>
            </p:nvSpPr>
            <p:spPr>
              <a:xfrm>
                <a:off x="7874762" y="5121667"/>
                <a:ext cx="1630755" cy="6164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kumimoji="1" lang="en-US" altLang="ja-JP" i="1" smtClean="0">
                              <a:latin typeface="Cambria Math" panose="02040503050406030204" pitchFamily="18" charset="0"/>
                            </a:rPr>
                          </m:ctrlPr>
                        </m:fPr>
                        <m:num>
                          <m:r>
                            <a:rPr kumimoji="1" lang="en-US" altLang="ja-JP" b="0" i="1" smtClean="0">
                              <a:latin typeface="Cambria Math" panose="02040503050406030204" pitchFamily="18" charset="0"/>
                            </a:rPr>
                            <m:t>𝑙𝑜𝑤𝑒𝑟</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𝑢𝑝𝑝𝑒𝑟</m:t>
                          </m:r>
                          <m:r>
                            <a:rPr kumimoji="1" lang="en-US" altLang="ja-JP" b="0" i="1" smtClean="0">
                              <a:latin typeface="Cambria Math" panose="02040503050406030204" pitchFamily="18" charset="0"/>
                            </a:rPr>
                            <m:t>+1 </m:t>
                          </m:r>
                        </m:num>
                        <m:den>
                          <m:r>
                            <a:rPr kumimoji="1" lang="en-US" altLang="ja-JP" b="0" i="1" smtClean="0">
                              <a:latin typeface="Cambria Math" panose="02040503050406030204" pitchFamily="18" charset="0"/>
                            </a:rPr>
                            <m:t>2</m:t>
                          </m:r>
                        </m:den>
                      </m:f>
                    </m:oMath>
                  </m:oMathPara>
                </a14:m>
                <a:endParaRPr kumimoji="1" lang="ja-JP" altLang="en-US" dirty="0">
                  <a:latin typeface="Cambria Math" panose="02040503050406030204" pitchFamily="18" charset="0"/>
                </a:endParaRPr>
              </a:p>
            </p:txBody>
          </p:sp>
        </mc:Choice>
        <mc:Fallback>
          <p:sp>
            <p:nvSpPr>
              <p:cNvPr id="16" name="テキスト ボックス 15"/>
              <p:cNvSpPr txBox="1">
                <a:spLocks noRot="1" noChangeAspect="1" noMove="1" noResize="1" noEditPoints="1" noAdjustHandles="1" noChangeArrowheads="1" noChangeShapeType="1" noTextEdit="1"/>
              </p:cNvSpPr>
              <p:nvPr/>
            </p:nvSpPr>
            <p:spPr>
              <a:xfrm>
                <a:off x="7874762" y="5121667"/>
                <a:ext cx="1630755" cy="616451"/>
              </a:xfrm>
              <a:prstGeom prst="rect">
                <a:avLst/>
              </a:prstGeom>
              <a:blipFill>
                <a:blip r:embed="rId2"/>
                <a:stretch>
                  <a:fillRect l="-10861" r="-7491"/>
                </a:stretch>
              </a:blipFill>
            </p:spPr>
            <p:txBody>
              <a:bodyPr/>
              <a:lstStyle/>
              <a:p>
                <a:r>
                  <a:rPr lang="ja-JP" altLang="en-US">
                    <a:noFill/>
                  </a:rPr>
                  <a:t> </a:t>
                </a:r>
              </a:p>
            </p:txBody>
          </p:sp>
        </mc:Fallback>
      </mc:AlternateContent>
      <p:sp>
        <p:nvSpPr>
          <p:cNvPr id="25" name="右矢印 24"/>
          <p:cNvSpPr/>
          <p:nvPr/>
        </p:nvSpPr>
        <p:spPr>
          <a:xfrm>
            <a:off x="7066912" y="3498459"/>
            <a:ext cx="665603" cy="5080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198962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404314"/>
            <a:ext cx="6045926" cy="888909"/>
          </a:xfrm>
        </p:spPr>
        <p:txBody>
          <a:bodyPr>
            <a:normAutofit/>
          </a:bodyPr>
          <a:lstStyle/>
          <a:p>
            <a:r>
              <a:rPr lang="en-US" altLang="ja-JP" sz="3200" b="1" dirty="0"/>
              <a:t>CUDA</a:t>
            </a:r>
            <a:r>
              <a:rPr lang="ja-JP" altLang="en-US" sz="3200" b="1" dirty="0"/>
              <a:t>実装</a:t>
            </a:r>
            <a:endParaRPr kumimoji="1" lang="ja-JP" altLang="en-US" sz="3200" b="1" dirty="0"/>
          </a:p>
        </p:txBody>
      </p:sp>
      <p:sp>
        <p:nvSpPr>
          <p:cNvPr id="6" name="テキスト プレースホルダー 2">
            <a:extLst>
              <a:ext uri="{FF2B5EF4-FFF2-40B4-BE49-F238E27FC236}">
                <a16:creationId xmlns:a16="http://schemas.microsoft.com/office/drawing/2014/main" id="{5B35C51B-F2EF-495E-B917-4F201CFB854F}"/>
              </a:ext>
            </a:extLst>
          </p:cNvPr>
          <p:cNvSpPr txBox="1">
            <a:spLocks/>
          </p:cNvSpPr>
          <p:nvPr/>
        </p:nvSpPr>
        <p:spPr>
          <a:xfrm>
            <a:off x="838200" y="875212"/>
            <a:ext cx="8656536" cy="3331028"/>
          </a:xfrm>
          <a:prstGeom prst="rect">
            <a:avLst/>
          </a:prstGeom>
        </p:spPr>
        <p:txBody>
          <a:bodyPr vert="horz" lIns="91440" tIns="45720" rIns="91440" bIns="45720" rtlCol="0" anchor="ctr">
            <a:normAutofit/>
          </a:bodyPr>
          <a:lstStyle>
            <a:defPPr>
              <a:defRPr lang="ja-JP"/>
            </a:defPPr>
            <a:lvl1pPr marL="0" algn="l"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2000" dirty="0" smtClean="0"/>
              <a:t>Pearson</a:t>
            </a:r>
            <a:r>
              <a:rPr lang="ja-JP" altLang="en-US" sz="2000" dirty="0" smtClean="0"/>
              <a:t>の</a:t>
            </a:r>
            <a:r>
              <a:rPr lang="en-US" altLang="ja-JP" sz="2000" dirty="0" smtClean="0"/>
              <a:t>GPU</a:t>
            </a:r>
            <a:r>
              <a:rPr lang="ja-JP" altLang="en-US" sz="2000" dirty="0" smtClean="0"/>
              <a:t>対応</a:t>
            </a:r>
            <a:endParaRPr lang="en-US" altLang="ja-JP" sz="2000" dirty="0" smtClean="0"/>
          </a:p>
          <a:p>
            <a:pPr marL="857250" lvl="1" indent="-457200"/>
            <a:r>
              <a:rPr lang="ja-JP" altLang="en-US" dirty="0" smtClean="0"/>
              <a:t>概要：最も簡単な</a:t>
            </a:r>
            <a:r>
              <a:rPr lang="en-US" altLang="ja-JP" dirty="0" smtClean="0"/>
              <a:t>Pearson</a:t>
            </a:r>
            <a:r>
              <a:rPr lang="ja-JP" altLang="en-US" dirty="0" smtClean="0"/>
              <a:t>相関係数の算出を</a:t>
            </a:r>
            <a:r>
              <a:rPr lang="en-US" altLang="ja-JP" dirty="0" smtClean="0"/>
              <a:t>GPU</a:t>
            </a:r>
            <a:r>
              <a:rPr lang="ja-JP" altLang="en-US" dirty="0" smtClean="0"/>
              <a:t>対応</a:t>
            </a:r>
            <a:endParaRPr lang="en-US" altLang="ja-JP" dirty="0" smtClean="0"/>
          </a:p>
          <a:p>
            <a:pPr marL="857250" lvl="1" indent="-457200"/>
            <a:r>
              <a:rPr lang="ja-JP" altLang="en-US" dirty="0" smtClean="0"/>
              <a:t>成果：</a:t>
            </a:r>
            <a:endParaRPr lang="en-US" altLang="ja-JP" dirty="0" smtClean="0"/>
          </a:p>
          <a:p>
            <a:pPr marL="1257300" lvl="2" indent="-457200"/>
            <a:r>
              <a:rPr lang="en-US" altLang="ja-JP" sz="1600" dirty="0" smtClean="0"/>
              <a:t>Pearson</a:t>
            </a:r>
            <a:r>
              <a:rPr lang="ja-JP" altLang="en-US" sz="1600" dirty="0" smtClean="0"/>
              <a:t>の</a:t>
            </a:r>
            <a:r>
              <a:rPr lang="en-US" altLang="ja-JP" sz="1600" dirty="0" smtClean="0"/>
              <a:t>GPU</a:t>
            </a:r>
            <a:r>
              <a:rPr lang="ja-JP" altLang="en-US" sz="1600" dirty="0" smtClean="0"/>
              <a:t>対応</a:t>
            </a:r>
            <a:endParaRPr lang="en-US" altLang="ja-JP" sz="1600" dirty="0" smtClean="0"/>
          </a:p>
          <a:p>
            <a:pPr marL="1257300" lvl="2" indent="-457200"/>
            <a:r>
              <a:rPr lang="en-US" altLang="ja-JP" sz="1600" dirty="0" smtClean="0"/>
              <a:t>GPU</a:t>
            </a:r>
            <a:r>
              <a:rPr lang="ja-JP" altLang="en-US" sz="1600" dirty="0" smtClean="0"/>
              <a:t> </a:t>
            </a:r>
            <a:r>
              <a:rPr lang="en-US" altLang="ja-JP" sz="1600" dirty="0" smtClean="0"/>
              <a:t>Programming</a:t>
            </a:r>
            <a:r>
              <a:rPr lang="ja-JP" altLang="en-US" sz="1600" dirty="0" smtClean="0"/>
              <a:t>における基本処理の実装</a:t>
            </a:r>
            <a:endParaRPr lang="en-US" altLang="ja-JP" sz="1600" dirty="0" smtClean="0"/>
          </a:p>
          <a:p>
            <a:pPr marL="1714500" lvl="3" indent="-457200"/>
            <a:r>
              <a:rPr lang="en-US" altLang="ja-JP" sz="1600" dirty="0" smtClean="0"/>
              <a:t>GPU</a:t>
            </a:r>
            <a:r>
              <a:rPr lang="ja-JP" altLang="en-US" sz="1600" dirty="0" smtClean="0"/>
              <a:t>メモリの制御</a:t>
            </a:r>
            <a:endParaRPr lang="en-US" altLang="ja-JP" sz="1600" dirty="0" smtClean="0"/>
          </a:p>
          <a:p>
            <a:pPr marL="1714500" lvl="3" indent="-457200"/>
            <a:r>
              <a:rPr lang="en-US" altLang="ja-JP" sz="1600" dirty="0" smtClean="0"/>
              <a:t>Multi GPU</a:t>
            </a:r>
            <a:r>
              <a:rPr lang="ja-JP" altLang="en-US" sz="1600" dirty="0" smtClean="0"/>
              <a:t>化、など</a:t>
            </a:r>
            <a:endParaRPr lang="en-US" altLang="ja-JP" sz="1600" dirty="0" smtClean="0"/>
          </a:p>
          <a:p>
            <a:pPr marL="857250" lvl="1" indent="-457200"/>
            <a:r>
              <a:rPr lang="ja-JP" altLang="en-US" dirty="0" smtClean="0"/>
              <a:t>今後：</a:t>
            </a:r>
            <a:endParaRPr lang="en-US" altLang="ja-JP" dirty="0" smtClean="0"/>
          </a:p>
          <a:p>
            <a:pPr marL="1257300" lvl="2" indent="-457200"/>
            <a:r>
              <a:rPr lang="en-US" altLang="ja-JP" sz="1600" dirty="0" smtClean="0"/>
              <a:t>Pearson</a:t>
            </a:r>
            <a:r>
              <a:rPr lang="ja-JP" altLang="en-US" sz="1600" dirty="0" smtClean="0"/>
              <a:t>の</a:t>
            </a:r>
            <a:r>
              <a:rPr lang="en-US" altLang="ja-JP" sz="1600" dirty="0" smtClean="0"/>
              <a:t>GPU</a:t>
            </a:r>
            <a:r>
              <a:rPr lang="ja-JP" altLang="en-US" sz="1600" dirty="0" smtClean="0"/>
              <a:t>対応の実装を参考に他相関係数の算出を</a:t>
            </a:r>
            <a:r>
              <a:rPr lang="en-US" altLang="ja-JP" sz="1600" dirty="0" smtClean="0"/>
              <a:t>GPU</a:t>
            </a:r>
            <a:r>
              <a:rPr lang="ja-JP" altLang="en-US" sz="1600" dirty="0" smtClean="0"/>
              <a:t>対応。</a:t>
            </a:r>
            <a:r>
              <a:rPr lang="en-US" altLang="ja-JP" sz="1600" dirty="0" smtClean="0"/>
              <a:t/>
            </a:r>
            <a:br>
              <a:rPr lang="en-US" altLang="ja-JP" sz="1600" dirty="0" smtClean="0"/>
            </a:br>
            <a:r>
              <a:rPr lang="ja-JP" altLang="en-US" sz="1600" dirty="0" smtClean="0"/>
              <a:t>複数人で並列的に実施する。</a:t>
            </a:r>
            <a:endParaRPr lang="en-US" altLang="ja-JP" sz="1600" dirty="0"/>
          </a:p>
        </p:txBody>
      </p:sp>
      <p:graphicFrame>
        <p:nvGraphicFramePr>
          <p:cNvPr id="7" name="表 6">
            <a:extLst>
              <a:ext uri="{FF2B5EF4-FFF2-40B4-BE49-F238E27FC236}">
                <a16:creationId xmlns:a16="http://schemas.microsoft.com/office/drawing/2014/main" id="{17D6D412-A7EE-4653-82A9-7ADFB9235EC1}"/>
              </a:ext>
            </a:extLst>
          </p:cNvPr>
          <p:cNvGraphicFramePr>
            <a:graphicFrameLocks noGrp="1"/>
          </p:cNvGraphicFramePr>
          <p:nvPr>
            <p:extLst>
              <p:ext uri="{D42A27DB-BD31-4B8C-83A1-F6EECF244321}">
                <p14:modId xmlns:p14="http://schemas.microsoft.com/office/powerpoint/2010/main" val="3290370959"/>
              </p:ext>
            </p:extLst>
          </p:nvPr>
        </p:nvGraphicFramePr>
        <p:xfrm>
          <a:off x="960556" y="4206240"/>
          <a:ext cx="7776860" cy="1737360"/>
        </p:xfrm>
        <a:graphic>
          <a:graphicData uri="http://schemas.openxmlformats.org/drawingml/2006/table">
            <a:tbl>
              <a:tblPr firstRow="1" bandRow="1">
                <a:tableStyleId>{5C22544A-7EE6-4342-B048-85BDC9FD1C3A}</a:tableStyleId>
              </a:tblPr>
              <a:tblGrid>
                <a:gridCol w="1110980">
                  <a:extLst>
                    <a:ext uri="{9D8B030D-6E8A-4147-A177-3AD203B41FA5}">
                      <a16:colId xmlns:a16="http://schemas.microsoft.com/office/drawing/2014/main" val="2463276425"/>
                    </a:ext>
                  </a:extLst>
                </a:gridCol>
                <a:gridCol w="1110980">
                  <a:extLst>
                    <a:ext uri="{9D8B030D-6E8A-4147-A177-3AD203B41FA5}">
                      <a16:colId xmlns:a16="http://schemas.microsoft.com/office/drawing/2014/main" val="769436034"/>
                    </a:ext>
                  </a:extLst>
                </a:gridCol>
                <a:gridCol w="1110980">
                  <a:extLst>
                    <a:ext uri="{9D8B030D-6E8A-4147-A177-3AD203B41FA5}">
                      <a16:colId xmlns:a16="http://schemas.microsoft.com/office/drawing/2014/main" val="4147058391"/>
                    </a:ext>
                  </a:extLst>
                </a:gridCol>
                <a:gridCol w="1110980">
                  <a:extLst>
                    <a:ext uri="{9D8B030D-6E8A-4147-A177-3AD203B41FA5}">
                      <a16:colId xmlns:a16="http://schemas.microsoft.com/office/drawing/2014/main" val="1888503013"/>
                    </a:ext>
                  </a:extLst>
                </a:gridCol>
                <a:gridCol w="1110980">
                  <a:extLst>
                    <a:ext uri="{9D8B030D-6E8A-4147-A177-3AD203B41FA5}">
                      <a16:colId xmlns:a16="http://schemas.microsoft.com/office/drawing/2014/main" val="2313453149"/>
                    </a:ext>
                  </a:extLst>
                </a:gridCol>
                <a:gridCol w="1110980">
                  <a:extLst>
                    <a:ext uri="{9D8B030D-6E8A-4147-A177-3AD203B41FA5}">
                      <a16:colId xmlns:a16="http://schemas.microsoft.com/office/drawing/2014/main" val="11729334"/>
                    </a:ext>
                  </a:extLst>
                </a:gridCol>
                <a:gridCol w="1110980">
                  <a:extLst>
                    <a:ext uri="{9D8B030D-6E8A-4147-A177-3AD203B41FA5}">
                      <a16:colId xmlns:a16="http://schemas.microsoft.com/office/drawing/2014/main" val="2872177549"/>
                    </a:ext>
                  </a:extLst>
                </a:gridCol>
              </a:tblGrid>
              <a:tr h="242067">
                <a:tc gridSpan="3">
                  <a:txBody>
                    <a:bodyPr/>
                    <a:lstStyle/>
                    <a:p>
                      <a:pPr algn="ctr"/>
                      <a:r>
                        <a:rPr kumimoji="1" lang="ja-JP" altLang="en-US" sz="1400" dirty="0">
                          <a:latin typeface="Meiryo UI" panose="020B0604030504040204" pitchFamily="50" charset="-128"/>
                          <a:ea typeface="Meiryo UI" panose="020B0604030504040204" pitchFamily="50" charset="-128"/>
                        </a:rPr>
                        <a:t>ハードウェア</a:t>
                      </a:r>
                    </a:p>
                  </a:txBody>
                  <a:tcPr/>
                </a:tc>
                <a:tc hMerge="1">
                  <a:txBody>
                    <a:bodyPr/>
                    <a:lstStyle/>
                    <a:p>
                      <a:pPr algn="ctr"/>
                      <a:endParaRPr kumimoji="1" lang="ja-JP" altLang="en-US" dirty="0"/>
                    </a:p>
                  </a:txBody>
                  <a:tcPr/>
                </a:tc>
                <a:tc hMerge="1">
                  <a:txBody>
                    <a:bodyPr/>
                    <a:lstStyle/>
                    <a:p>
                      <a:pPr algn="ctr"/>
                      <a:endParaRPr kumimoji="1" lang="ja-JP" altLang="en-US" dirty="0"/>
                    </a:p>
                  </a:txBody>
                  <a:tcPr/>
                </a:tc>
                <a:tc gridSpan="3">
                  <a:txBody>
                    <a:bodyPr/>
                    <a:lstStyle/>
                    <a:p>
                      <a:pPr algn="ctr"/>
                      <a:r>
                        <a:rPr kumimoji="1" lang="ja-JP" altLang="en-US" sz="1400" dirty="0">
                          <a:latin typeface="Meiryo UI" panose="020B0604030504040204" pitchFamily="50" charset="-128"/>
                          <a:ea typeface="Meiryo UI" panose="020B0604030504040204" pitchFamily="50" charset="-128"/>
                        </a:rPr>
                        <a:t>データ</a:t>
                      </a:r>
                    </a:p>
                  </a:txBody>
                  <a:tcPr/>
                </a:tc>
                <a:tc hMerge="1">
                  <a:txBody>
                    <a:bodyPr/>
                    <a:lstStyle/>
                    <a:p>
                      <a:pPr algn="ctr"/>
                      <a:endParaRPr kumimoji="1" lang="ja-JP" altLang="en-US" dirty="0"/>
                    </a:p>
                  </a:txBody>
                  <a:tcPr/>
                </a:tc>
                <a:tc hMerge="1">
                  <a:txBody>
                    <a:bodyPr/>
                    <a:lstStyle/>
                    <a:p>
                      <a:pPr algn="ctr"/>
                      <a:endParaRPr kumimoji="1" lang="ja-JP" altLang="en-US" dirty="0"/>
                    </a:p>
                  </a:txBody>
                  <a:tcPr/>
                </a:tc>
                <a:tc rowSpan="2">
                  <a:txBody>
                    <a:bodyPr/>
                    <a:lstStyle/>
                    <a:p>
                      <a:pPr algn="ctr"/>
                      <a:r>
                        <a:rPr kumimoji="1" lang="ja-JP" altLang="en-US" sz="1400" dirty="0">
                          <a:latin typeface="Meiryo UI" panose="020B0604030504040204" pitchFamily="50" charset="-128"/>
                          <a:ea typeface="Meiryo UI" panose="020B0604030504040204" pitchFamily="50" charset="-128"/>
                        </a:rPr>
                        <a:t>処理速度</a:t>
                      </a:r>
                      <a:r>
                        <a:rPr kumimoji="1" lang="en-US" altLang="ja-JP" sz="1400" dirty="0">
                          <a:latin typeface="Meiryo UI" panose="020B0604030504040204" pitchFamily="50" charset="-128"/>
                          <a:ea typeface="Meiryo UI" panose="020B0604030504040204" pitchFamily="50" charset="-128"/>
                        </a:rPr>
                        <a:t>[sec]</a:t>
                      </a:r>
                      <a:endParaRPr kumimoji="1" lang="ja-JP" altLang="en-US"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013076058"/>
                  </a:ext>
                </a:extLst>
              </a:tr>
              <a:tr h="411515">
                <a:tc>
                  <a:txBody>
                    <a:bodyPr/>
                    <a:lstStyle/>
                    <a:p>
                      <a:pPr algn="ctr"/>
                      <a:r>
                        <a:rPr kumimoji="1" lang="ja-JP" altLang="en-US" sz="1400" dirty="0">
                          <a:latin typeface="Meiryo UI" panose="020B0604030504040204" pitchFamily="50" charset="-128"/>
                          <a:ea typeface="Meiryo UI" panose="020B0604030504040204" pitchFamily="50" charset="-128"/>
                        </a:rPr>
                        <a:t>処理</a:t>
                      </a:r>
                    </a:p>
                  </a:txBody>
                  <a:tcPr/>
                </a:tc>
                <a:tc>
                  <a:txBody>
                    <a:bodyPr/>
                    <a:lstStyle/>
                    <a:p>
                      <a:pPr algn="ctr"/>
                      <a:r>
                        <a:rPr kumimoji="1" lang="ja-JP" altLang="en-US" sz="1400" dirty="0">
                          <a:latin typeface="Meiryo UI" panose="020B0604030504040204" pitchFamily="50" charset="-128"/>
                          <a:ea typeface="Meiryo UI" panose="020B0604030504040204" pitchFamily="50" charset="-128"/>
                        </a:rPr>
                        <a:t>コア数</a:t>
                      </a:r>
                      <a:r>
                        <a:rPr kumimoji="1" lang="en-US" altLang="ja-JP" sz="1400" dirty="0">
                          <a:latin typeface="Meiryo UI" panose="020B0604030504040204" pitchFamily="50" charset="-128"/>
                          <a:ea typeface="Meiryo UI" panose="020B0604030504040204" pitchFamily="50" charset="-128"/>
                        </a:rPr>
                        <a:t>or GPU</a:t>
                      </a:r>
                      <a:r>
                        <a:rPr kumimoji="1" lang="ja-JP" altLang="en-US" sz="1400" dirty="0">
                          <a:latin typeface="Meiryo UI" panose="020B0604030504040204" pitchFamily="50" charset="-128"/>
                          <a:ea typeface="Meiryo UI" panose="020B0604030504040204" pitchFamily="50" charset="-128"/>
                        </a:rPr>
                        <a:t>数</a:t>
                      </a:r>
                    </a:p>
                  </a:txBody>
                  <a:tcPr/>
                </a:tc>
                <a:tc>
                  <a:txBody>
                    <a:bodyPr/>
                    <a:lstStyle/>
                    <a:p>
                      <a:pPr algn="ctr"/>
                      <a:r>
                        <a:rPr kumimoji="1" lang="ja-JP" altLang="en-US" sz="900" dirty="0">
                          <a:latin typeface="Meiryo UI" panose="020B0604030504040204" pitchFamily="50" charset="-128"/>
                          <a:ea typeface="Meiryo UI" panose="020B0604030504040204" pitchFamily="50" charset="-128"/>
                        </a:rPr>
                        <a:t>総</a:t>
                      </a:r>
                      <a:r>
                        <a:rPr kumimoji="1" lang="en-US" altLang="ja-JP" sz="900" dirty="0">
                          <a:latin typeface="Meiryo UI" panose="020B0604030504040204" pitchFamily="50" charset="-128"/>
                          <a:ea typeface="Meiryo UI" panose="020B0604030504040204" pitchFamily="50" charset="-128"/>
                        </a:rPr>
                        <a:t>GPU</a:t>
                      </a:r>
                      <a:r>
                        <a:rPr kumimoji="1" lang="ja-JP" altLang="en-US" sz="900" dirty="0">
                          <a:latin typeface="Meiryo UI" panose="020B0604030504040204" pitchFamily="50" charset="-128"/>
                          <a:ea typeface="Meiryo UI" panose="020B0604030504040204" pitchFamily="50" charset="-128"/>
                        </a:rPr>
                        <a:t>メモリ</a:t>
                      </a:r>
                      <a:r>
                        <a:rPr kumimoji="1" lang="en-US" altLang="ja-JP" sz="900" dirty="0">
                          <a:latin typeface="Meiryo UI" panose="020B0604030504040204" pitchFamily="50" charset="-128"/>
                          <a:ea typeface="Meiryo UI" panose="020B0604030504040204" pitchFamily="50" charset="-128"/>
                        </a:rPr>
                        <a:t>[GB]※GPU</a:t>
                      </a:r>
                      <a:r>
                        <a:rPr kumimoji="1" lang="ja-JP" altLang="en-US" sz="900" dirty="0">
                          <a:latin typeface="Meiryo UI" panose="020B0604030504040204" pitchFamily="50" charset="-128"/>
                          <a:ea typeface="Meiryo UI" panose="020B0604030504040204" pitchFamily="50" charset="-128"/>
                        </a:rPr>
                        <a:t>のみ</a:t>
                      </a:r>
                    </a:p>
                  </a:txBody>
                  <a:tcPr/>
                </a:tc>
                <a:tc>
                  <a:txBody>
                    <a:bodyPr/>
                    <a:lstStyle/>
                    <a:p>
                      <a:pPr algn="ctr"/>
                      <a:r>
                        <a:rPr kumimoji="1" lang="ja-JP" altLang="en-US" sz="1400" dirty="0">
                          <a:latin typeface="Meiryo UI" panose="020B0604030504040204" pitchFamily="50" charset="-128"/>
                          <a:ea typeface="Meiryo UI" panose="020B0604030504040204" pitchFamily="50" charset="-128"/>
                        </a:rPr>
                        <a:t>系列数</a:t>
                      </a:r>
                    </a:p>
                  </a:txBody>
                  <a:tcPr/>
                </a:tc>
                <a:tc>
                  <a:txBody>
                    <a:bodyPr/>
                    <a:lstStyle/>
                    <a:p>
                      <a:pPr algn="ctr"/>
                      <a:r>
                        <a:rPr kumimoji="1" lang="ja-JP" altLang="en-US" sz="1400" dirty="0">
                          <a:latin typeface="Meiryo UI" panose="020B0604030504040204" pitchFamily="50" charset="-128"/>
                          <a:ea typeface="Meiryo UI" panose="020B0604030504040204" pitchFamily="50" charset="-128"/>
                        </a:rPr>
                        <a:t>データ数</a:t>
                      </a:r>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万</a:t>
                      </a:r>
                      <a:r>
                        <a:rPr kumimoji="1" lang="en-US" altLang="ja-JP" sz="1400" dirty="0">
                          <a:latin typeface="Meiryo UI" panose="020B0604030504040204" pitchFamily="50" charset="-128"/>
                          <a:ea typeface="Meiryo UI" panose="020B0604030504040204" pitchFamily="50" charset="-128"/>
                        </a:rPr>
                        <a:t>]</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400" dirty="0">
                          <a:latin typeface="Meiryo UI" panose="020B0604030504040204" pitchFamily="50" charset="-128"/>
                          <a:ea typeface="Meiryo UI" panose="020B0604030504040204" pitchFamily="50" charset="-128"/>
                        </a:rPr>
                        <a:t>型</a:t>
                      </a:r>
                    </a:p>
                  </a:txBody>
                  <a:tcPr/>
                </a:tc>
                <a:tc vMerge="1">
                  <a:txBody>
                    <a:bodyPr/>
                    <a:lstStyle/>
                    <a:p>
                      <a:endParaRPr kumimoji="1" lang="ja-JP" altLang="en-US"/>
                    </a:p>
                  </a:txBody>
                  <a:tcPr/>
                </a:tc>
                <a:extLst>
                  <a:ext uri="{0D108BD9-81ED-4DB2-BD59-A6C34878D82A}">
                    <a16:rowId xmlns:a16="http://schemas.microsoft.com/office/drawing/2014/main" val="2232835735"/>
                  </a:ext>
                </a:extLst>
              </a:tr>
              <a:tr h="242067">
                <a:tc>
                  <a:txBody>
                    <a:bodyPr/>
                    <a:lstStyle/>
                    <a:p>
                      <a:pPr algn="ctr"/>
                      <a:r>
                        <a:rPr kumimoji="1" lang="en-US" altLang="ja-JP" sz="1400" dirty="0">
                          <a:latin typeface="Meiryo UI" panose="020B0604030504040204" pitchFamily="50" charset="-128"/>
                          <a:ea typeface="Meiryo UI" panose="020B0604030504040204" pitchFamily="50" charset="-128"/>
                        </a:rPr>
                        <a:t>CPU</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1</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480</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1600</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double</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230,000※</a:t>
                      </a:r>
                      <a:endParaRPr kumimoji="1" lang="ja-JP" altLang="en-US"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57175568"/>
                  </a:ext>
                </a:extLst>
              </a:tr>
              <a:tr h="242067">
                <a:tc>
                  <a:txBody>
                    <a:bodyPr/>
                    <a:lstStyle/>
                    <a:p>
                      <a:pPr algn="ctr"/>
                      <a:r>
                        <a:rPr kumimoji="1" lang="en-US" altLang="ja-JP" sz="1400" dirty="0">
                          <a:latin typeface="Meiryo UI" panose="020B0604030504040204" pitchFamily="50" charset="-128"/>
                          <a:ea typeface="Meiryo UI" panose="020B0604030504040204" pitchFamily="50" charset="-128"/>
                        </a:rPr>
                        <a:t>GPU</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8</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128</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480</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1600</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double</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40</a:t>
                      </a:r>
                      <a:endParaRPr kumimoji="1" lang="ja-JP" altLang="en-US"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352250174"/>
                  </a:ext>
                </a:extLst>
              </a:tr>
              <a:tr h="242067">
                <a:tc>
                  <a:txBody>
                    <a:bodyPr/>
                    <a:lstStyle/>
                    <a:p>
                      <a:pPr algn="ctr"/>
                      <a:r>
                        <a:rPr kumimoji="1" lang="en-US" altLang="ja-JP" sz="1400" dirty="0">
                          <a:latin typeface="Meiryo UI" panose="020B0604030504040204" pitchFamily="50" charset="-128"/>
                          <a:ea typeface="Meiryo UI" panose="020B0604030504040204" pitchFamily="50" charset="-128"/>
                        </a:rPr>
                        <a:t>GPU</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8</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128</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1000</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1600</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float</a:t>
                      </a:r>
                      <a:endParaRPr kumimoji="1" lang="ja-JP" altLang="en-US" sz="1400" dirty="0">
                        <a:latin typeface="Meiryo UI" panose="020B0604030504040204" pitchFamily="50" charset="-128"/>
                        <a:ea typeface="Meiryo UI" panose="020B0604030504040204" pitchFamily="50" charset="-128"/>
                      </a:endParaRPr>
                    </a:p>
                  </a:txBody>
                  <a:tcPr/>
                </a:tc>
                <a:tc>
                  <a:txBody>
                    <a:bodyPr/>
                    <a:lstStyle/>
                    <a:p>
                      <a:pPr algn="ctr"/>
                      <a:r>
                        <a:rPr kumimoji="1" lang="en-US" altLang="ja-JP" sz="1400" dirty="0">
                          <a:latin typeface="Meiryo UI" panose="020B0604030504040204" pitchFamily="50" charset="-128"/>
                          <a:ea typeface="Meiryo UI" panose="020B0604030504040204" pitchFamily="50" charset="-128"/>
                        </a:rPr>
                        <a:t>30</a:t>
                      </a:r>
                      <a:endParaRPr kumimoji="1" lang="ja-JP" altLang="en-US" sz="14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546539498"/>
                  </a:ext>
                </a:extLst>
              </a:tr>
            </a:tbl>
          </a:graphicData>
        </a:graphic>
      </p:graphicFrame>
    </p:spTree>
    <p:extLst>
      <p:ext uri="{BB962C8B-B14F-4D97-AF65-F5344CB8AC3E}">
        <p14:creationId xmlns:p14="http://schemas.microsoft.com/office/powerpoint/2010/main" val="3124121200"/>
      </p:ext>
    </p:extLst>
  </p:cSld>
  <p:clrMapOvr>
    <a:masterClrMapping/>
  </p:clrMapOvr>
  <p:timing>
    <p:tnLst>
      <p:par>
        <p:cTn id="1" dur="indefinite" restart="never" nodeType="tmRoot"/>
      </p:par>
    </p:tnLst>
  </p:timing>
</p:sld>
</file>

<file path=ppt/theme/theme1.xml><?xml version="1.0" encoding="utf-8"?>
<a:theme xmlns:a="http://schemas.openxmlformats.org/drawingml/2006/main" name="ファセット">
  <a:themeElements>
    <a:clrScheme name="ファセット">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186</TotalTime>
  <Words>974</Words>
  <Application>Microsoft Office PowerPoint</Application>
  <PresentationFormat>ワイド画面</PresentationFormat>
  <Paragraphs>276</Paragraphs>
  <Slides>17</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17</vt:i4>
      </vt:variant>
    </vt:vector>
  </HeadingPairs>
  <TitlesOfParts>
    <vt:vector size="26" baseType="lpstr">
      <vt:lpstr>Meiryo UI</vt:lpstr>
      <vt:lpstr>ＭＳ Ｐゴシック</vt:lpstr>
      <vt:lpstr>メイリオ</vt:lpstr>
      <vt:lpstr>游ゴシック</vt:lpstr>
      <vt:lpstr>Arial</vt:lpstr>
      <vt:lpstr>Cambria Math</vt:lpstr>
      <vt:lpstr>Trebuchet MS</vt:lpstr>
      <vt:lpstr>Wingdings 3</vt:lpstr>
      <vt:lpstr>ファセット</vt:lpstr>
      <vt:lpstr>革新的研究開発推進プログラム（ImPACT）</vt:lpstr>
      <vt:lpstr>構成図</vt:lpstr>
      <vt:lpstr>機能一覧</vt:lpstr>
      <vt:lpstr>機能詳細</vt:lpstr>
      <vt:lpstr>シーケンス</vt:lpstr>
      <vt:lpstr>分析ジョブ登録</vt:lpstr>
      <vt:lpstr>分析ジョブ予約済み一覧</vt:lpstr>
      <vt:lpstr>実行中分析ジョブ一覧</vt:lpstr>
      <vt:lpstr>分析ジョブ完了一覧</vt:lpstr>
      <vt:lpstr>相関係数一覧表示</vt:lpstr>
      <vt:lpstr>各種分析結果画面</vt:lpstr>
      <vt:lpstr>手法候補</vt:lpstr>
      <vt:lpstr>ピアソンの積率相関係数（定義）</vt:lpstr>
      <vt:lpstr>Thrustについて</vt:lpstr>
      <vt:lpstr>スピアマンの順位相関（定義）</vt:lpstr>
      <vt:lpstr>順位付けアルゴリズム（概念）</vt:lpstr>
      <vt:lpstr>CUDA実装</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手法候補</dc:title>
  <dc:creator>韓 成煥</dc:creator>
  <cp:lastModifiedBy>韓 成煥</cp:lastModifiedBy>
  <cp:revision>12</cp:revision>
  <dcterms:created xsi:type="dcterms:W3CDTF">2018-08-20T05:15:31Z</dcterms:created>
  <dcterms:modified xsi:type="dcterms:W3CDTF">2018-08-20T08:24:23Z</dcterms:modified>
</cp:coreProperties>
</file>